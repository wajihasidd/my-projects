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318" r:id="rId2"/>
    <p:sldId id="308" r:id="rId3"/>
    <p:sldId id="309" r:id="rId4"/>
    <p:sldId id="310" r:id="rId5"/>
    <p:sldId id="311" r:id="rId6"/>
    <p:sldId id="312" r:id="rId7"/>
    <p:sldId id="277" r:id="rId8"/>
    <p:sldId id="280" r:id="rId9"/>
    <p:sldId id="281" r:id="rId10"/>
    <p:sldId id="279" r:id="rId11"/>
    <p:sldId id="278" r:id="rId12"/>
    <p:sldId id="288" r:id="rId13"/>
    <p:sldId id="289" r:id="rId14"/>
    <p:sldId id="282" r:id="rId15"/>
    <p:sldId id="319" r:id="rId16"/>
    <p:sldId id="291" r:id="rId17"/>
    <p:sldId id="320" r:id="rId18"/>
    <p:sldId id="317" r:id="rId19"/>
    <p:sldId id="299" r:id="rId20"/>
    <p:sldId id="283" r:id="rId21"/>
    <p:sldId id="294" r:id="rId22"/>
    <p:sldId id="295" r:id="rId23"/>
    <p:sldId id="297" r:id="rId24"/>
    <p:sldId id="298" r:id="rId25"/>
    <p:sldId id="315" r:id="rId26"/>
    <p:sldId id="316" r:id="rId27"/>
    <p:sldId id="30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38" autoAdjust="0"/>
    <p:restoredTop sz="94660"/>
  </p:normalViewPr>
  <p:slideViewPr>
    <p:cSldViewPr snapToGrid="0">
      <p:cViewPr varScale="1">
        <p:scale>
          <a:sx n="64" d="100"/>
          <a:sy n="64" d="100"/>
        </p:scale>
        <p:origin x="4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E9ED3-4858-4CE3-BEBD-7A09C18EBFB9}"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51A98-617D-4633-A0C4-DC7FA7330FB4}" type="slidenum">
              <a:rPr lang="en-US" smtClean="0"/>
              <a:t>‹#›</a:t>
            </a:fld>
            <a:endParaRPr lang="en-US"/>
          </a:p>
        </p:txBody>
      </p:sp>
    </p:spTree>
    <p:extLst>
      <p:ext uri="{BB962C8B-B14F-4D97-AF65-F5344CB8AC3E}">
        <p14:creationId xmlns:p14="http://schemas.microsoft.com/office/powerpoint/2010/main" val="4075321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b="1"/>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508000" y="6492876"/>
            <a:ext cx="2844800" cy="365125"/>
          </a:xfrm>
          <a:prstGeom prst="rect">
            <a:avLst/>
          </a:prstGeom>
        </p:spPr>
        <p:txBody>
          <a:bodyPr/>
          <a:lstStyle>
            <a:lvl1pPr>
              <a:defRPr>
                <a:solidFill>
                  <a:schemeClr val="bg2">
                    <a:lumMod val="25000"/>
                  </a:schemeClr>
                </a:solidFill>
              </a:defRPr>
            </a:lvl1pPr>
          </a:lstStyle>
          <a:p>
            <a:r>
              <a:rPr lang="en-US" dirty="0">
                <a:solidFill>
                  <a:srgbClr val="EEECE1">
                    <a:lumMod val="25000"/>
                  </a:srgbClr>
                </a:solidFill>
              </a:rPr>
              <a:t>Khawaja  2025</a:t>
            </a:r>
          </a:p>
        </p:txBody>
      </p:sp>
      <p:sp>
        <p:nvSpPr>
          <p:cNvPr id="5" name="Footer Placeholder 4"/>
          <p:cNvSpPr>
            <a:spLocks noGrp="1"/>
          </p:cNvSpPr>
          <p:nvPr>
            <p:ph type="ftr" sz="quarter" idx="11"/>
          </p:nvPr>
        </p:nvSpPr>
        <p:spPr>
          <a:xfrm>
            <a:off x="4165600" y="6492876"/>
            <a:ext cx="3860800" cy="365125"/>
          </a:xfrm>
          <a:prstGeom prst="rect">
            <a:avLst/>
          </a:prstGeom>
        </p:spPr>
        <p:txBody>
          <a:bodyPr/>
          <a:lstStyle>
            <a:lvl1pPr>
              <a:defRPr>
                <a:solidFill>
                  <a:schemeClr val="bg2">
                    <a:lumMod val="25000"/>
                  </a:schemeClr>
                </a:solidFill>
              </a:defRPr>
            </a:lvl1pPr>
          </a:lstStyle>
          <a:p>
            <a:r>
              <a:rPr lang="en-US">
                <a:solidFill>
                  <a:srgbClr val="EEECE1">
                    <a:lumMod val="25000"/>
                  </a:srgbClr>
                </a:solidFill>
              </a:rPr>
              <a:t>Automata Theory &amp; Languages</a:t>
            </a:r>
          </a:p>
          <a:p>
            <a:endParaRPr lang="en-US">
              <a:solidFill>
                <a:srgbClr val="EEECE1">
                  <a:lumMod val="25000"/>
                </a:srgbClr>
              </a:solidFill>
            </a:endParaRPr>
          </a:p>
        </p:txBody>
      </p:sp>
      <p:sp>
        <p:nvSpPr>
          <p:cNvPr id="6" name="Slide Number Placeholder 5"/>
          <p:cNvSpPr>
            <a:spLocks noGrp="1"/>
          </p:cNvSpPr>
          <p:nvPr>
            <p:ph type="sldNum" sz="quarter" idx="12"/>
          </p:nvPr>
        </p:nvSpPr>
        <p:spPr>
          <a:xfrm>
            <a:off x="8737600" y="6492876"/>
            <a:ext cx="2844800" cy="365125"/>
          </a:xfrm>
          <a:prstGeom prst="rect">
            <a:avLst/>
          </a:prstGeom>
        </p:spPr>
        <p:txBody>
          <a:bodyPr/>
          <a:lstStyle>
            <a:lvl1pPr>
              <a:defRPr>
                <a:solidFill>
                  <a:schemeClr val="bg2">
                    <a:lumMod val="25000"/>
                  </a:schemeClr>
                </a:solidFill>
              </a:defRPr>
            </a:lvl1pPr>
          </a:lstStyle>
          <a:p>
            <a:fld id="{3D7797CA-7415-49AC-BCED-E58EC2F42C7F}"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1165522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508000" y="6492876"/>
            <a:ext cx="2844800" cy="365125"/>
          </a:xfrm>
          <a:prstGeom prst="rect">
            <a:avLst/>
          </a:prstGeom>
        </p:spPr>
        <p:txBody>
          <a:bodyPr/>
          <a:lstStyle>
            <a:lvl1pPr>
              <a:defRPr>
                <a:solidFill>
                  <a:schemeClr val="bg2">
                    <a:lumMod val="25000"/>
                  </a:schemeClr>
                </a:solidFill>
              </a:defRPr>
            </a:lvl1pPr>
          </a:lstStyle>
          <a:p>
            <a:r>
              <a:rPr lang="en-US" dirty="0">
                <a:solidFill>
                  <a:srgbClr val="EEECE1">
                    <a:lumMod val="25000"/>
                  </a:srgbClr>
                </a:solidFill>
              </a:rPr>
              <a:t>Khawaja  2025</a:t>
            </a:r>
          </a:p>
        </p:txBody>
      </p:sp>
      <p:sp>
        <p:nvSpPr>
          <p:cNvPr id="8" name="Footer Placeholder 4"/>
          <p:cNvSpPr>
            <a:spLocks noGrp="1"/>
          </p:cNvSpPr>
          <p:nvPr>
            <p:ph type="ftr" sz="quarter" idx="11"/>
          </p:nvPr>
        </p:nvSpPr>
        <p:spPr>
          <a:xfrm>
            <a:off x="4165600" y="6492876"/>
            <a:ext cx="3860800" cy="365125"/>
          </a:xfrm>
          <a:prstGeom prst="rect">
            <a:avLst/>
          </a:prstGeom>
        </p:spPr>
        <p:txBody>
          <a:bodyPr/>
          <a:lstStyle>
            <a:lvl1pPr>
              <a:defRPr>
                <a:solidFill>
                  <a:schemeClr val="bg2">
                    <a:lumMod val="25000"/>
                  </a:schemeClr>
                </a:solidFill>
              </a:defRPr>
            </a:lvl1pPr>
          </a:lstStyle>
          <a:p>
            <a:r>
              <a:rPr lang="en-US">
                <a:solidFill>
                  <a:srgbClr val="EEECE1">
                    <a:lumMod val="25000"/>
                  </a:srgbClr>
                </a:solidFill>
              </a:rPr>
              <a:t>Automata Theory &amp; Languages</a:t>
            </a:r>
          </a:p>
          <a:p>
            <a:endParaRPr lang="en-US">
              <a:solidFill>
                <a:srgbClr val="EEECE1">
                  <a:lumMod val="25000"/>
                </a:srgbClr>
              </a:solidFill>
            </a:endParaRPr>
          </a:p>
        </p:txBody>
      </p:sp>
      <p:sp>
        <p:nvSpPr>
          <p:cNvPr id="9" name="Slide Number Placeholder 5"/>
          <p:cNvSpPr>
            <a:spLocks noGrp="1"/>
          </p:cNvSpPr>
          <p:nvPr>
            <p:ph type="sldNum" sz="quarter" idx="12"/>
          </p:nvPr>
        </p:nvSpPr>
        <p:spPr>
          <a:xfrm>
            <a:off x="8737600" y="6492876"/>
            <a:ext cx="2844800" cy="365125"/>
          </a:xfrm>
          <a:prstGeom prst="rect">
            <a:avLst/>
          </a:prstGeom>
        </p:spPr>
        <p:txBody>
          <a:bodyPr/>
          <a:lstStyle>
            <a:lvl1pPr>
              <a:defRPr>
                <a:solidFill>
                  <a:schemeClr val="bg2">
                    <a:lumMod val="25000"/>
                  </a:schemeClr>
                </a:solidFill>
              </a:defRPr>
            </a:lvl1pPr>
          </a:lstStyle>
          <a:p>
            <a:fld id="{3D7797CA-7415-49AC-BCED-E58EC2F42C7F}"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31494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1372691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579909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8" name="Footer Placeholder 7"/>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9" name="Slide Number Placeholder 8"/>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28180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4" name="Footer Placeholder 3"/>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2895644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4244705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2347026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6" name="Footer Placeholder 5"/>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7" name="Slide Number Placeholder 6"/>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3007597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85310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r>
              <a:rPr lang="en-US" dirty="0">
                <a:solidFill>
                  <a:srgbClr val="EEECE1">
                    <a:lumMod val="25000"/>
                  </a:srgbClr>
                </a:solidFill>
              </a:rPr>
              <a:t>Khawaja  2025</a:t>
            </a: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r>
              <a:rPr lang="en-US">
                <a:solidFill>
                  <a:srgbClr val="EEECE1">
                    <a:lumMod val="25000"/>
                  </a:srgbClr>
                </a:solidFill>
              </a:rPr>
              <a:t>Automata Theory &amp; Languages </a:t>
            </a: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FA4E1D1B-4A3D-4CBF-832D-60449243C053}"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382758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p:cNvCxnSpPr/>
          <p:nvPr userDrawn="1"/>
        </p:nvCxnSpPr>
        <p:spPr>
          <a:xfrm>
            <a:off x="0" y="1371600"/>
            <a:ext cx="12192000" cy="1588"/>
          </a:xfrm>
          <a:prstGeom prst="line">
            <a:avLst/>
          </a:prstGeom>
          <a:ln w="317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0" y="6475412"/>
            <a:ext cx="12192000" cy="1588"/>
          </a:xfrm>
          <a:prstGeom prst="line">
            <a:avLst/>
          </a:prstGeom>
          <a:ln w="2540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3"/>
          <p:cNvSpPr>
            <a:spLocks noGrp="1"/>
          </p:cNvSpPr>
          <p:nvPr>
            <p:ph type="dt" sz="half" idx="2"/>
          </p:nvPr>
        </p:nvSpPr>
        <p:spPr>
          <a:xfrm>
            <a:off x="508000" y="6492876"/>
            <a:ext cx="2844800" cy="365125"/>
          </a:xfrm>
          <a:prstGeom prst="rect">
            <a:avLst/>
          </a:prstGeom>
        </p:spPr>
        <p:txBody>
          <a:bodyPr/>
          <a:lstStyle>
            <a:lvl1pPr algn="l">
              <a:defRPr sz="1200">
                <a:solidFill>
                  <a:schemeClr val="bg2">
                    <a:lumMod val="25000"/>
                  </a:schemeClr>
                </a:solidFill>
              </a:defRPr>
            </a:lvl1pPr>
          </a:lstStyle>
          <a:p>
            <a:r>
              <a:rPr lang="en-US" dirty="0">
                <a:solidFill>
                  <a:srgbClr val="EEECE1">
                    <a:lumMod val="25000"/>
                  </a:srgbClr>
                </a:solidFill>
              </a:rPr>
              <a:t>Khawaja  2025</a:t>
            </a:r>
          </a:p>
        </p:txBody>
      </p:sp>
      <p:sp>
        <p:nvSpPr>
          <p:cNvPr id="10" name="Footer Placeholder 4"/>
          <p:cNvSpPr>
            <a:spLocks noGrp="1"/>
          </p:cNvSpPr>
          <p:nvPr>
            <p:ph type="ftr" sz="quarter" idx="3"/>
          </p:nvPr>
        </p:nvSpPr>
        <p:spPr>
          <a:xfrm>
            <a:off x="4165600" y="6492876"/>
            <a:ext cx="3860800" cy="365125"/>
          </a:xfrm>
          <a:prstGeom prst="rect">
            <a:avLst/>
          </a:prstGeom>
        </p:spPr>
        <p:txBody>
          <a:bodyPr/>
          <a:lstStyle>
            <a:lvl1pPr algn="ctr">
              <a:defRPr sz="1200">
                <a:solidFill>
                  <a:schemeClr val="bg2">
                    <a:lumMod val="25000"/>
                  </a:schemeClr>
                </a:solidFill>
              </a:defRPr>
            </a:lvl1pPr>
          </a:lstStyle>
          <a:p>
            <a:r>
              <a:rPr lang="en-US">
                <a:solidFill>
                  <a:srgbClr val="EEECE1">
                    <a:lumMod val="25000"/>
                  </a:srgbClr>
                </a:solidFill>
              </a:rPr>
              <a:t>Automata Theory &amp; Languages </a:t>
            </a:r>
          </a:p>
        </p:txBody>
      </p:sp>
      <p:sp>
        <p:nvSpPr>
          <p:cNvPr id="11" name="Slide Number Placeholder 5"/>
          <p:cNvSpPr>
            <a:spLocks noGrp="1"/>
          </p:cNvSpPr>
          <p:nvPr>
            <p:ph type="sldNum" sz="quarter" idx="4"/>
          </p:nvPr>
        </p:nvSpPr>
        <p:spPr>
          <a:xfrm>
            <a:off x="8737600" y="6492876"/>
            <a:ext cx="2844800" cy="365125"/>
          </a:xfrm>
          <a:prstGeom prst="rect">
            <a:avLst/>
          </a:prstGeom>
        </p:spPr>
        <p:txBody>
          <a:bodyPr/>
          <a:lstStyle>
            <a:lvl1pPr algn="r">
              <a:defRPr sz="1200">
                <a:solidFill>
                  <a:schemeClr val="bg2">
                    <a:lumMod val="25000"/>
                  </a:schemeClr>
                </a:solidFill>
              </a:defRPr>
            </a:lvl1pPr>
          </a:lstStyle>
          <a:p>
            <a:fld id="{5BE93CDD-7471-4F9B-A0F4-C283B2BA8122}" type="slidenum">
              <a:rPr lang="en-US" smtClean="0">
                <a:solidFill>
                  <a:srgbClr val="EEECE1">
                    <a:lumMod val="25000"/>
                  </a:srgbClr>
                </a:solidFill>
              </a:rPr>
              <a:pPr/>
              <a:t>‹#›</a:t>
            </a:fld>
            <a:endParaRPr lang="en-US">
              <a:solidFill>
                <a:srgbClr val="EEECE1">
                  <a:lumMod val="25000"/>
                </a:srgbClr>
              </a:solidFill>
            </a:endParaRPr>
          </a:p>
        </p:txBody>
      </p:sp>
    </p:spTree>
    <p:extLst>
      <p:ext uri="{BB962C8B-B14F-4D97-AF65-F5344CB8AC3E}">
        <p14:creationId xmlns:p14="http://schemas.microsoft.com/office/powerpoint/2010/main" val="15387558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4400" b="1" kern="1200">
          <a:solidFill>
            <a:schemeClr val="bg2">
              <a:lumMod val="25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fld id="{3D7797CA-7415-49AC-BCED-E58EC2F42C7F}" type="slidenum">
              <a:rPr lang="en-US" smtClean="0"/>
              <a:pPr/>
              <a:t>1</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sp>
        <p:nvSpPr>
          <p:cNvPr id="10" name="Title 1"/>
          <p:cNvSpPr txBox="1">
            <a:spLocks/>
          </p:cNvSpPr>
          <p:nvPr/>
        </p:nvSpPr>
        <p:spPr>
          <a:xfrm>
            <a:off x="2438400" y="1828800"/>
            <a:ext cx="7391400" cy="2209800"/>
          </a:xfrm>
          <a:prstGeom prst="rect">
            <a:avLst/>
          </a:prstGeom>
        </p:spPr>
        <p:txBody>
          <a:bodyPr vert="horz" lIns="91440" tIns="45720" rIns="91440" bIns="45720" rtlCol="0" anchor="t" anchorCtr="0">
            <a:noAutofit/>
          </a:bodyPr>
          <a:lstStyle>
            <a:lvl1pPr algn="ctr" defTabSz="914400" rtl="0" eaLnBrk="1" latinLnBrk="0" hangingPunct="1">
              <a:spcBef>
                <a:spcPct val="0"/>
              </a:spcBef>
              <a:buNone/>
              <a:defRPr sz="4400" b="1" kern="1200">
                <a:solidFill>
                  <a:schemeClr val="bg2">
                    <a:lumMod val="25000"/>
                  </a:schemeClr>
                </a:solidFill>
                <a:latin typeface="+mj-lt"/>
                <a:ea typeface="+mj-ea"/>
                <a:cs typeface="+mj-cs"/>
              </a:defRPr>
            </a:lvl1pPr>
          </a:lstStyle>
          <a:p>
            <a:endParaRPr lang="en-US" dirty="0">
              <a:solidFill>
                <a:srgbClr val="C00000"/>
              </a:solidFill>
            </a:endParaRPr>
          </a:p>
          <a:p>
            <a:r>
              <a:rPr lang="en-US" sz="5400" dirty="0">
                <a:solidFill>
                  <a:srgbClr val="C00000"/>
                </a:solidFill>
              </a:rPr>
              <a:t>Top-Down Parsing</a:t>
            </a:r>
          </a:p>
        </p:txBody>
      </p:sp>
      <p:sp>
        <p:nvSpPr>
          <p:cNvPr id="11" name="Subtitle 2"/>
          <p:cNvSpPr txBox="1">
            <a:spLocks/>
          </p:cNvSpPr>
          <p:nvPr/>
        </p:nvSpPr>
        <p:spPr>
          <a:xfrm>
            <a:off x="1752600" y="4876800"/>
            <a:ext cx="6400800" cy="16002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en-US" dirty="0"/>
          </a:p>
          <a:p>
            <a:pPr marL="0" indent="0">
              <a:buNone/>
            </a:pPr>
            <a:r>
              <a:rPr lang="en-US" dirty="0"/>
              <a:t>Compiler Construction</a:t>
            </a:r>
            <a:br>
              <a:rPr lang="en-US" dirty="0"/>
            </a:br>
            <a:endParaRPr lang="en-US" dirty="0"/>
          </a:p>
        </p:txBody>
      </p:sp>
    </p:spTree>
    <p:extLst>
      <p:ext uri="{BB962C8B-B14F-4D97-AF65-F5344CB8AC3E}">
        <p14:creationId xmlns:p14="http://schemas.microsoft.com/office/powerpoint/2010/main" val="74593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Elimination of Left Recursion</a:t>
            </a:r>
          </a:p>
        </p:txBody>
      </p:sp>
      <p:sp>
        <p:nvSpPr>
          <p:cNvPr id="3" name="Content Placeholder 2"/>
          <p:cNvSpPr>
            <a:spLocks noGrp="1"/>
          </p:cNvSpPr>
          <p:nvPr>
            <p:ph idx="1"/>
          </p:nvPr>
        </p:nvSpPr>
        <p:spPr>
          <a:xfrm>
            <a:off x="332509" y="1417638"/>
            <a:ext cx="11707091" cy="4898756"/>
          </a:xfrm>
        </p:spPr>
        <p:txBody>
          <a:bodyPr>
            <a:normAutofit fontScale="92500"/>
          </a:bodyPr>
          <a:lstStyle/>
          <a:p>
            <a:r>
              <a:rPr lang="en-US" sz="2400" dirty="0"/>
              <a:t>Associativity and precedence are captured in the following grammar for describing expressions, terms, and factors. </a:t>
            </a:r>
          </a:p>
          <a:p>
            <a:r>
              <a:rPr lang="en-US" sz="2400" b="1" dirty="0"/>
              <a:t>E</a:t>
            </a:r>
            <a:r>
              <a:rPr lang="en-US" sz="2400" dirty="0"/>
              <a:t> represents expressions consisting of terms separated by + signs</a:t>
            </a:r>
          </a:p>
          <a:p>
            <a:r>
              <a:rPr lang="en-US" sz="2400" b="1" dirty="0"/>
              <a:t>T</a:t>
            </a:r>
            <a:r>
              <a:rPr lang="en-US" sz="2400" dirty="0"/>
              <a:t> represents terms consisting of factors separated by * signs </a:t>
            </a:r>
            <a:r>
              <a:rPr lang="en-US" sz="2400" dirty="0">
                <a:sym typeface="Wingdings" panose="05000000000000000000" pitchFamily="2" charset="2"/>
              </a:rPr>
              <a:t></a:t>
            </a:r>
            <a:endParaRPr lang="en-US" sz="2400" dirty="0"/>
          </a:p>
          <a:p>
            <a:r>
              <a:rPr lang="en-US" sz="2400" b="1" dirty="0"/>
              <a:t>F</a:t>
            </a:r>
            <a:r>
              <a:rPr lang="en-US" sz="2400" dirty="0"/>
              <a:t> represents factors that can be either parenthesized expressions or identifiers</a:t>
            </a:r>
          </a:p>
          <a:p>
            <a:endParaRPr lang="en-US" sz="2400" dirty="0"/>
          </a:p>
          <a:p>
            <a:endParaRPr lang="en-US" sz="2400" dirty="0"/>
          </a:p>
          <a:p>
            <a:endParaRPr lang="en-US" sz="2400" dirty="0"/>
          </a:p>
          <a:p>
            <a:r>
              <a:rPr lang="en-US" sz="2400" dirty="0"/>
              <a:t>Expression grammar (4.1) belongs to the class of LR grammars that are suitable for bottom-up parsing.</a:t>
            </a:r>
          </a:p>
          <a:p>
            <a:r>
              <a:rPr lang="en-US" sz="2400" dirty="0"/>
              <a:t>This grammar can be adapted to handle additional operators and additional levels of precedence.</a:t>
            </a:r>
          </a:p>
          <a:p>
            <a:r>
              <a:rPr lang="en-US" sz="2400" dirty="0"/>
              <a:t>However, it cannot be used for top-down parsing because it is left recursive.</a:t>
            </a:r>
          </a:p>
        </p:txBody>
      </p:sp>
      <p:sp>
        <p:nvSpPr>
          <p:cNvPr id="8" name="Slide Number Placeholder 7"/>
          <p:cNvSpPr>
            <a:spLocks noGrp="1"/>
          </p:cNvSpPr>
          <p:nvPr>
            <p:ph type="sldNum" sz="quarter" idx="12"/>
          </p:nvPr>
        </p:nvSpPr>
        <p:spPr/>
        <p:txBody>
          <a:bodyPr/>
          <a:lstStyle/>
          <a:p>
            <a:fld id="{3D7797CA-7415-49AC-BCED-E58EC2F42C7F}" type="slidenum">
              <a:rPr lang="en-US" smtClean="0"/>
              <a:pPr/>
              <a:t>2</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2496848" y="3360151"/>
            <a:ext cx="6505575" cy="1190625"/>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1583821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Elimination of Left Recursion - Example</a:t>
            </a:r>
          </a:p>
        </p:txBody>
      </p:sp>
      <p:sp>
        <p:nvSpPr>
          <p:cNvPr id="8" name="Slide Number Placeholder 7"/>
          <p:cNvSpPr>
            <a:spLocks noGrp="1"/>
          </p:cNvSpPr>
          <p:nvPr>
            <p:ph type="sldNum" sz="quarter" idx="12"/>
          </p:nvPr>
        </p:nvSpPr>
        <p:spPr/>
        <p:txBody>
          <a:bodyPr/>
          <a:lstStyle/>
          <a:p>
            <a:fld id="{3D7797CA-7415-49AC-BCED-E58EC2F42C7F}" type="slidenum">
              <a:rPr lang="en-US" smtClean="0"/>
              <a:pPr/>
              <a:t>3</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3" name="Picture 2"/>
          <p:cNvPicPr>
            <a:picLocks noChangeAspect="1"/>
          </p:cNvPicPr>
          <p:nvPr/>
        </p:nvPicPr>
        <p:blipFill>
          <a:blip r:embed="rId2"/>
          <a:stretch>
            <a:fillRect/>
          </a:stretch>
        </p:blipFill>
        <p:spPr>
          <a:xfrm>
            <a:off x="767920" y="1436073"/>
            <a:ext cx="5676190" cy="1228571"/>
          </a:xfrm>
          <a:prstGeom prst="rect">
            <a:avLst/>
          </a:prstGeom>
        </p:spPr>
      </p:pic>
      <p:pic>
        <p:nvPicPr>
          <p:cNvPr id="4" name="Picture 3"/>
          <p:cNvPicPr>
            <a:picLocks noChangeAspect="1"/>
          </p:cNvPicPr>
          <p:nvPr/>
        </p:nvPicPr>
        <p:blipFill>
          <a:blip r:embed="rId3"/>
          <a:stretch>
            <a:fillRect/>
          </a:stretch>
        </p:blipFill>
        <p:spPr>
          <a:xfrm>
            <a:off x="53634" y="2636508"/>
            <a:ext cx="1428571" cy="514286"/>
          </a:xfrm>
          <a:prstGeom prst="rect">
            <a:avLst/>
          </a:prstGeom>
        </p:spPr>
      </p:pic>
      <p:pic>
        <p:nvPicPr>
          <p:cNvPr id="5" name="Picture 4"/>
          <p:cNvPicPr>
            <a:picLocks noChangeAspect="1"/>
          </p:cNvPicPr>
          <p:nvPr/>
        </p:nvPicPr>
        <p:blipFill>
          <a:blip r:embed="rId4"/>
          <a:stretch>
            <a:fillRect/>
          </a:stretch>
        </p:blipFill>
        <p:spPr>
          <a:xfrm>
            <a:off x="5565030" y="2706848"/>
            <a:ext cx="1371429" cy="457143"/>
          </a:xfrm>
          <a:prstGeom prst="rect">
            <a:avLst/>
          </a:prstGeom>
        </p:spPr>
      </p:pic>
      <p:pic>
        <p:nvPicPr>
          <p:cNvPr id="10" name="Picture 9"/>
          <p:cNvPicPr>
            <a:picLocks noChangeAspect="1"/>
          </p:cNvPicPr>
          <p:nvPr/>
        </p:nvPicPr>
        <p:blipFill>
          <a:blip r:embed="rId5"/>
          <a:stretch>
            <a:fillRect/>
          </a:stretch>
        </p:blipFill>
        <p:spPr>
          <a:xfrm>
            <a:off x="1456193" y="3301701"/>
            <a:ext cx="276190" cy="828571"/>
          </a:xfrm>
          <a:prstGeom prst="rect">
            <a:avLst/>
          </a:prstGeom>
        </p:spPr>
      </p:pic>
      <p:pic>
        <p:nvPicPr>
          <p:cNvPr id="11" name="Picture 10"/>
          <p:cNvPicPr>
            <a:picLocks noChangeAspect="1"/>
          </p:cNvPicPr>
          <p:nvPr/>
        </p:nvPicPr>
        <p:blipFill>
          <a:blip r:embed="rId6"/>
          <a:stretch>
            <a:fillRect/>
          </a:stretch>
        </p:blipFill>
        <p:spPr>
          <a:xfrm>
            <a:off x="4240627" y="2706848"/>
            <a:ext cx="314286" cy="2885714"/>
          </a:xfrm>
          <a:prstGeom prst="rect">
            <a:avLst/>
          </a:prstGeom>
        </p:spPr>
      </p:pic>
      <p:pic>
        <p:nvPicPr>
          <p:cNvPr id="12" name="Picture 11"/>
          <p:cNvPicPr>
            <a:picLocks noChangeAspect="1"/>
          </p:cNvPicPr>
          <p:nvPr/>
        </p:nvPicPr>
        <p:blipFill>
          <a:blip r:embed="rId7"/>
          <a:stretch>
            <a:fillRect/>
          </a:stretch>
        </p:blipFill>
        <p:spPr>
          <a:xfrm>
            <a:off x="2093109" y="2832277"/>
            <a:ext cx="695238" cy="1276190"/>
          </a:xfrm>
          <a:prstGeom prst="rect">
            <a:avLst/>
          </a:prstGeom>
        </p:spPr>
      </p:pic>
      <p:pic>
        <p:nvPicPr>
          <p:cNvPr id="13" name="Picture 12"/>
          <p:cNvPicPr>
            <a:picLocks noChangeAspect="1"/>
          </p:cNvPicPr>
          <p:nvPr/>
        </p:nvPicPr>
        <p:blipFill>
          <a:blip r:embed="rId8"/>
          <a:stretch>
            <a:fillRect/>
          </a:stretch>
        </p:blipFill>
        <p:spPr>
          <a:xfrm>
            <a:off x="2740627" y="2514318"/>
            <a:ext cx="1142857" cy="2209524"/>
          </a:xfrm>
          <a:prstGeom prst="rect">
            <a:avLst/>
          </a:prstGeom>
        </p:spPr>
      </p:pic>
      <p:pic>
        <p:nvPicPr>
          <p:cNvPr id="14" name="Picture 13"/>
          <p:cNvPicPr>
            <a:picLocks noChangeAspect="1"/>
          </p:cNvPicPr>
          <p:nvPr/>
        </p:nvPicPr>
        <p:blipFill>
          <a:blip r:embed="rId9"/>
          <a:stretch>
            <a:fillRect/>
          </a:stretch>
        </p:blipFill>
        <p:spPr>
          <a:xfrm>
            <a:off x="5813541" y="3241436"/>
            <a:ext cx="952381" cy="1723810"/>
          </a:xfrm>
          <a:prstGeom prst="rect">
            <a:avLst/>
          </a:prstGeom>
        </p:spPr>
      </p:pic>
      <p:pic>
        <p:nvPicPr>
          <p:cNvPr id="15" name="Picture 14"/>
          <p:cNvPicPr>
            <a:picLocks noChangeAspect="1"/>
          </p:cNvPicPr>
          <p:nvPr/>
        </p:nvPicPr>
        <p:blipFill>
          <a:blip r:embed="rId10"/>
          <a:stretch>
            <a:fillRect/>
          </a:stretch>
        </p:blipFill>
        <p:spPr>
          <a:xfrm>
            <a:off x="36571" y="4174216"/>
            <a:ext cx="942857" cy="1295238"/>
          </a:xfrm>
          <a:prstGeom prst="rect">
            <a:avLst/>
          </a:prstGeom>
        </p:spPr>
      </p:pic>
      <p:pic>
        <p:nvPicPr>
          <p:cNvPr id="16" name="Picture 15"/>
          <p:cNvPicPr>
            <a:picLocks noChangeAspect="1"/>
          </p:cNvPicPr>
          <p:nvPr/>
        </p:nvPicPr>
        <p:blipFill>
          <a:blip r:embed="rId11"/>
          <a:stretch>
            <a:fillRect/>
          </a:stretch>
        </p:blipFill>
        <p:spPr>
          <a:xfrm>
            <a:off x="4549546" y="4098904"/>
            <a:ext cx="923810" cy="1295238"/>
          </a:xfrm>
          <a:prstGeom prst="rect">
            <a:avLst/>
          </a:prstGeom>
        </p:spPr>
      </p:pic>
      <p:pic>
        <p:nvPicPr>
          <p:cNvPr id="19" name="Picture 18"/>
          <p:cNvPicPr>
            <a:picLocks noChangeAspect="1"/>
          </p:cNvPicPr>
          <p:nvPr/>
        </p:nvPicPr>
        <p:blipFill>
          <a:blip r:embed="rId12"/>
          <a:stretch>
            <a:fillRect/>
          </a:stretch>
        </p:blipFill>
        <p:spPr>
          <a:xfrm>
            <a:off x="2651465" y="5316519"/>
            <a:ext cx="1561905" cy="685714"/>
          </a:xfrm>
          <a:prstGeom prst="rect">
            <a:avLst/>
          </a:prstGeom>
        </p:spPr>
        <p:style>
          <a:lnRef idx="2">
            <a:schemeClr val="accent5"/>
          </a:lnRef>
          <a:fillRef idx="1">
            <a:schemeClr val="lt1"/>
          </a:fillRef>
          <a:effectRef idx="0">
            <a:schemeClr val="accent5"/>
          </a:effectRef>
          <a:fontRef idx="minor">
            <a:schemeClr val="dk1"/>
          </a:fontRef>
        </p:style>
      </p:pic>
      <p:pic>
        <p:nvPicPr>
          <p:cNvPr id="20" name="Picture 19"/>
          <p:cNvPicPr>
            <a:picLocks noChangeAspect="1"/>
          </p:cNvPicPr>
          <p:nvPr/>
        </p:nvPicPr>
        <p:blipFill>
          <a:blip r:embed="rId13"/>
          <a:stretch>
            <a:fillRect/>
          </a:stretch>
        </p:blipFill>
        <p:spPr>
          <a:xfrm>
            <a:off x="670478" y="5573946"/>
            <a:ext cx="1847619" cy="457143"/>
          </a:xfrm>
          <a:prstGeom prst="rect">
            <a:avLst/>
          </a:prstGeom>
        </p:spPr>
      </p:pic>
      <p:sp>
        <p:nvSpPr>
          <p:cNvPr id="21" name="TextBox 20"/>
          <p:cNvSpPr txBox="1"/>
          <p:nvPr/>
        </p:nvSpPr>
        <p:spPr>
          <a:xfrm>
            <a:off x="7214669" y="1662132"/>
            <a:ext cx="4897616"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000" dirty="0">
                <a:solidFill>
                  <a:srgbClr val="C00000"/>
                </a:solidFill>
              </a:rPr>
              <a:t>A </a:t>
            </a:r>
            <a:r>
              <a:rPr lang="en-US" sz="2000" dirty="0">
                <a:solidFill>
                  <a:srgbClr val="C00000"/>
                </a:solidFill>
                <a:sym typeface="Wingdings" panose="05000000000000000000" pitchFamily="2" charset="2"/>
              </a:rPr>
              <a:t> A</a:t>
            </a:r>
            <a:r>
              <a:rPr lang="el-GR" sz="2000" dirty="0">
                <a:solidFill>
                  <a:srgbClr val="C00000"/>
                </a:solidFill>
                <a:sym typeface="Wingdings" panose="05000000000000000000" pitchFamily="2" charset="2"/>
              </a:rPr>
              <a:t>α</a:t>
            </a:r>
            <a:r>
              <a:rPr lang="en-US" sz="2000" baseline="-25000" dirty="0">
                <a:solidFill>
                  <a:srgbClr val="C00000"/>
                </a:solidFill>
                <a:sym typeface="Wingdings" panose="05000000000000000000" pitchFamily="2" charset="2"/>
              </a:rPr>
              <a:t>1</a:t>
            </a:r>
            <a:r>
              <a:rPr lang="en-US" sz="2000" dirty="0">
                <a:solidFill>
                  <a:srgbClr val="C00000"/>
                </a:solidFill>
                <a:sym typeface="Wingdings" panose="05000000000000000000" pitchFamily="2" charset="2"/>
              </a:rPr>
              <a:t> | A</a:t>
            </a:r>
            <a:r>
              <a:rPr lang="el-GR" sz="2000" dirty="0">
                <a:solidFill>
                  <a:srgbClr val="C00000"/>
                </a:solidFill>
                <a:sym typeface="Wingdings" panose="05000000000000000000" pitchFamily="2" charset="2"/>
              </a:rPr>
              <a:t>α</a:t>
            </a:r>
            <a:r>
              <a:rPr lang="en-US" sz="2000" baseline="-25000" dirty="0">
                <a:solidFill>
                  <a:srgbClr val="C00000"/>
                </a:solidFill>
                <a:sym typeface="Wingdings" panose="05000000000000000000" pitchFamily="2" charset="2"/>
              </a:rPr>
              <a:t>2</a:t>
            </a:r>
            <a:r>
              <a:rPr lang="en-US" sz="2000" dirty="0">
                <a:solidFill>
                  <a:srgbClr val="C00000"/>
                </a:solidFill>
                <a:sym typeface="Wingdings" panose="05000000000000000000" pitchFamily="2" charset="2"/>
              </a:rPr>
              <a:t> | … | A</a:t>
            </a:r>
            <a:r>
              <a:rPr lang="el-GR" sz="2000" dirty="0">
                <a:solidFill>
                  <a:srgbClr val="C00000"/>
                </a:solidFill>
                <a:sym typeface="Wingdings" panose="05000000000000000000" pitchFamily="2" charset="2"/>
              </a:rPr>
              <a:t>α</a:t>
            </a:r>
            <a:r>
              <a:rPr lang="en-US" sz="2000" baseline="-25000" dirty="0">
                <a:solidFill>
                  <a:srgbClr val="C00000"/>
                </a:solidFill>
                <a:sym typeface="Wingdings" panose="05000000000000000000" pitchFamily="2" charset="2"/>
              </a:rPr>
              <a:t>m</a:t>
            </a:r>
            <a:r>
              <a:rPr lang="en-US" sz="2000" dirty="0">
                <a:solidFill>
                  <a:srgbClr val="C00000"/>
                </a:solidFill>
                <a:sym typeface="Wingdings" panose="05000000000000000000" pitchFamily="2" charset="2"/>
              </a:rPr>
              <a:t> | </a:t>
            </a:r>
            <a:r>
              <a:rPr lang="el-GR" sz="2000" dirty="0">
                <a:solidFill>
                  <a:srgbClr val="C00000"/>
                </a:solidFill>
                <a:sym typeface="Wingdings" panose="05000000000000000000" pitchFamily="2" charset="2"/>
              </a:rPr>
              <a:t>β</a:t>
            </a:r>
            <a:r>
              <a:rPr lang="en-US" sz="2000" baseline="-25000" dirty="0">
                <a:solidFill>
                  <a:srgbClr val="C00000"/>
                </a:solidFill>
                <a:sym typeface="Wingdings" panose="05000000000000000000" pitchFamily="2" charset="2"/>
              </a:rPr>
              <a:t>1</a:t>
            </a:r>
            <a:r>
              <a:rPr lang="en-US" sz="2000" dirty="0">
                <a:solidFill>
                  <a:srgbClr val="C00000"/>
                </a:solidFill>
                <a:sym typeface="Wingdings" panose="05000000000000000000" pitchFamily="2" charset="2"/>
              </a:rPr>
              <a:t> | </a:t>
            </a:r>
            <a:r>
              <a:rPr lang="el-GR" sz="2000" dirty="0">
                <a:solidFill>
                  <a:srgbClr val="C00000"/>
                </a:solidFill>
                <a:sym typeface="Wingdings" panose="05000000000000000000" pitchFamily="2" charset="2"/>
              </a:rPr>
              <a:t>β</a:t>
            </a:r>
            <a:r>
              <a:rPr lang="en-US" sz="2000" baseline="-25000" dirty="0">
                <a:solidFill>
                  <a:srgbClr val="C00000"/>
                </a:solidFill>
                <a:sym typeface="Wingdings" panose="05000000000000000000" pitchFamily="2" charset="2"/>
              </a:rPr>
              <a:t>2</a:t>
            </a:r>
            <a:r>
              <a:rPr lang="en-US" sz="2000" dirty="0">
                <a:solidFill>
                  <a:srgbClr val="C00000"/>
                </a:solidFill>
                <a:sym typeface="Wingdings" panose="05000000000000000000" pitchFamily="2" charset="2"/>
              </a:rPr>
              <a:t> | … | </a:t>
            </a:r>
            <a:r>
              <a:rPr lang="el-GR" sz="2000" dirty="0">
                <a:solidFill>
                  <a:srgbClr val="C00000"/>
                </a:solidFill>
                <a:sym typeface="Wingdings" panose="05000000000000000000" pitchFamily="2" charset="2"/>
              </a:rPr>
              <a:t>β</a:t>
            </a:r>
            <a:r>
              <a:rPr lang="en-US" sz="2000" baseline="-25000" dirty="0">
                <a:solidFill>
                  <a:srgbClr val="C00000"/>
                </a:solidFill>
                <a:sym typeface="Wingdings" panose="05000000000000000000" pitchFamily="2" charset="2"/>
              </a:rPr>
              <a:t>n</a:t>
            </a:r>
            <a:r>
              <a:rPr lang="en-US" sz="2000" dirty="0">
                <a:solidFill>
                  <a:srgbClr val="C00000"/>
                </a:solidFill>
                <a:sym typeface="Wingdings" panose="05000000000000000000" pitchFamily="2" charset="2"/>
              </a:rPr>
              <a:t> </a:t>
            </a:r>
            <a:endParaRPr lang="en-US" sz="2000" dirty="0">
              <a:solidFill>
                <a:srgbClr val="C00000"/>
              </a:solidFill>
            </a:endParaRPr>
          </a:p>
        </p:txBody>
      </p:sp>
      <p:sp>
        <p:nvSpPr>
          <p:cNvPr id="22" name="TextBox 21"/>
          <p:cNvSpPr txBox="1"/>
          <p:nvPr/>
        </p:nvSpPr>
        <p:spPr>
          <a:xfrm>
            <a:off x="8024550" y="2644970"/>
            <a:ext cx="3342069" cy="707886"/>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000" dirty="0">
                <a:solidFill>
                  <a:srgbClr val="C00000"/>
                </a:solidFill>
              </a:rPr>
              <a:t>A </a:t>
            </a:r>
            <a:r>
              <a:rPr lang="en-US" sz="2000" dirty="0">
                <a:solidFill>
                  <a:srgbClr val="C00000"/>
                </a:solidFill>
                <a:sym typeface="Wingdings" panose="05000000000000000000" pitchFamily="2" charset="2"/>
              </a:rPr>
              <a:t> </a:t>
            </a:r>
            <a:r>
              <a:rPr lang="el-GR" sz="2000" dirty="0">
                <a:solidFill>
                  <a:srgbClr val="C00000"/>
                </a:solidFill>
                <a:sym typeface="Wingdings" panose="05000000000000000000" pitchFamily="2" charset="2"/>
              </a:rPr>
              <a:t>β</a:t>
            </a:r>
            <a:r>
              <a:rPr lang="en-US" sz="2000" baseline="-25000" dirty="0">
                <a:solidFill>
                  <a:srgbClr val="C00000"/>
                </a:solidFill>
                <a:sym typeface="Wingdings" panose="05000000000000000000" pitchFamily="2" charset="2"/>
              </a:rPr>
              <a:t>1</a:t>
            </a:r>
            <a:r>
              <a:rPr lang="en-US" sz="2000" dirty="0">
                <a:solidFill>
                  <a:srgbClr val="C00000"/>
                </a:solidFill>
                <a:sym typeface="Wingdings" panose="05000000000000000000" pitchFamily="2" charset="2"/>
              </a:rPr>
              <a:t>A’ | </a:t>
            </a:r>
            <a:r>
              <a:rPr lang="el-GR" sz="2000" dirty="0">
                <a:solidFill>
                  <a:srgbClr val="C00000"/>
                </a:solidFill>
                <a:sym typeface="Wingdings" panose="05000000000000000000" pitchFamily="2" charset="2"/>
              </a:rPr>
              <a:t>β</a:t>
            </a:r>
            <a:r>
              <a:rPr lang="en-US" sz="2000" baseline="-25000" dirty="0">
                <a:solidFill>
                  <a:srgbClr val="C00000"/>
                </a:solidFill>
                <a:sym typeface="Wingdings" panose="05000000000000000000" pitchFamily="2" charset="2"/>
              </a:rPr>
              <a:t>2</a:t>
            </a:r>
            <a:r>
              <a:rPr lang="en-US" sz="2000" dirty="0">
                <a:solidFill>
                  <a:srgbClr val="C00000"/>
                </a:solidFill>
                <a:sym typeface="Wingdings" panose="05000000000000000000" pitchFamily="2" charset="2"/>
              </a:rPr>
              <a:t>A’ | … | </a:t>
            </a:r>
            <a:r>
              <a:rPr lang="el-GR" sz="2000" dirty="0">
                <a:solidFill>
                  <a:srgbClr val="C00000"/>
                </a:solidFill>
                <a:sym typeface="Wingdings" panose="05000000000000000000" pitchFamily="2" charset="2"/>
              </a:rPr>
              <a:t>β</a:t>
            </a:r>
            <a:r>
              <a:rPr lang="en-US" sz="2000" baseline="-25000" dirty="0" err="1">
                <a:solidFill>
                  <a:srgbClr val="C00000"/>
                </a:solidFill>
                <a:sym typeface="Wingdings" panose="05000000000000000000" pitchFamily="2" charset="2"/>
              </a:rPr>
              <a:t>n</a:t>
            </a:r>
            <a:r>
              <a:rPr lang="en-US" sz="2000" dirty="0" err="1">
                <a:solidFill>
                  <a:srgbClr val="C00000"/>
                </a:solidFill>
                <a:sym typeface="Wingdings" panose="05000000000000000000" pitchFamily="2" charset="2"/>
              </a:rPr>
              <a:t>A</a:t>
            </a:r>
            <a:r>
              <a:rPr lang="en-US" sz="2000" dirty="0">
                <a:solidFill>
                  <a:srgbClr val="C00000"/>
                </a:solidFill>
                <a:sym typeface="Wingdings" panose="05000000000000000000" pitchFamily="2" charset="2"/>
              </a:rPr>
              <a:t>’</a:t>
            </a:r>
          </a:p>
          <a:p>
            <a:r>
              <a:rPr lang="en-US" sz="2000" dirty="0">
                <a:solidFill>
                  <a:srgbClr val="C00000"/>
                </a:solidFill>
                <a:sym typeface="Wingdings" panose="05000000000000000000" pitchFamily="2" charset="2"/>
              </a:rPr>
              <a:t>A’  </a:t>
            </a:r>
            <a:r>
              <a:rPr lang="el-GR" sz="2000" dirty="0">
                <a:solidFill>
                  <a:srgbClr val="C00000"/>
                </a:solidFill>
                <a:sym typeface="Wingdings" panose="05000000000000000000" pitchFamily="2" charset="2"/>
              </a:rPr>
              <a:t>α</a:t>
            </a:r>
            <a:r>
              <a:rPr lang="en-US" sz="2000" baseline="-25000" dirty="0">
                <a:solidFill>
                  <a:srgbClr val="C00000"/>
                </a:solidFill>
                <a:sym typeface="Wingdings" panose="05000000000000000000" pitchFamily="2" charset="2"/>
              </a:rPr>
              <a:t>1</a:t>
            </a:r>
            <a:r>
              <a:rPr lang="en-US" sz="2000" dirty="0">
                <a:solidFill>
                  <a:srgbClr val="C00000"/>
                </a:solidFill>
                <a:sym typeface="Wingdings" panose="05000000000000000000" pitchFamily="2" charset="2"/>
              </a:rPr>
              <a:t>A’ | </a:t>
            </a:r>
            <a:r>
              <a:rPr lang="el-GR" sz="2000" dirty="0">
                <a:solidFill>
                  <a:srgbClr val="C00000"/>
                </a:solidFill>
                <a:sym typeface="Wingdings" panose="05000000000000000000" pitchFamily="2" charset="2"/>
              </a:rPr>
              <a:t>α</a:t>
            </a:r>
            <a:r>
              <a:rPr lang="en-US" sz="2000" baseline="-25000" dirty="0">
                <a:solidFill>
                  <a:srgbClr val="C00000"/>
                </a:solidFill>
                <a:sym typeface="Wingdings" panose="05000000000000000000" pitchFamily="2" charset="2"/>
              </a:rPr>
              <a:t>2</a:t>
            </a:r>
            <a:r>
              <a:rPr lang="en-US" sz="2000" dirty="0">
                <a:solidFill>
                  <a:srgbClr val="C00000"/>
                </a:solidFill>
                <a:sym typeface="Wingdings" panose="05000000000000000000" pitchFamily="2" charset="2"/>
              </a:rPr>
              <a:t>A’ | … | </a:t>
            </a:r>
            <a:r>
              <a:rPr lang="el-GR" sz="2000" dirty="0">
                <a:solidFill>
                  <a:srgbClr val="C00000"/>
                </a:solidFill>
                <a:sym typeface="Wingdings" panose="05000000000000000000" pitchFamily="2" charset="2"/>
              </a:rPr>
              <a:t>α</a:t>
            </a:r>
            <a:r>
              <a:rPr lang="en-US" sz="2000" baseline="-25000" dirty="0">
                <a:solidFill>
                  <a:srgbClr val="C00000"/>
                </a:solidFill>
                <a:sym typeface="Wingdings" panose="05000000000000000000" pitchFamily="2" charset="2"/>
              </a:rPr>
              <a:t>m</a:t>
            </a:r>
            <a:r>
              <a:rPr lang="en-US" sz="2000" dirty="0">
                <a:solidFill>
                  <a:srgbClr val="C00000"/>
                </a:solidFill>
                <a:sym typeface="Wingdings" panose="05000000000000000000" pitchFamily="2" charset="2"/>
              </a:rPr>
              <a:t>A’ | </a:t>
            </a:r>
            <a:r>
              <a:rPr lang="el-GR" sz="2000" dirty="0">
                <a:solidFill>
                  <a:srgbClr val="C00000"/>
                </a:solidFill>
                <a:sym typeface="Wingdings" panose="05000000000000000000" pitchFamily="2" charset="2"/>
              </a:rPr>
              <a:t>ε</a:t>
            </a:r>
            <a:endParaRPr lang="en-US" sz="2000" dirty="0">
              <a:solidFill>
                <a:srgbClr val="C00000"/>
              </a:solidFill>
            </a:endParaRPr>
          </a:p>
        </p:txBody>
      </p:sp>
      <p:sp>
        <p:nvSpPr>
          <p:cNvPr id="23" name="Down Arrow 22"/>
          <p:cNvSpPr/>
          <p:nvPr/>
        </p:nvSpPr>
        <p:spPr>
          <a:xfrm>
            <a:off x="9608238" y="2180124"/>
            <a:ext cx="154745" cy="3579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8031194" y="4344797"/>
            <a:ext cx="2829064" cy="40011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000" dirty="0">
                <a:solidFill>
                  <a:srgbClr val="C00000"/>
                </a:solidFill>
              </a:rPr>
              <a:t>E </a:t>
            </a:r>
            <a:r>
              <a:rPr lang="en-US" sz="2000" dirty="0">
                <a:solidFill>
                  <a:srgbClr val="C00000"/>
                </a:solidFill>
                <a:sym typeface="Wingdings" panose="05000000000000000000" pitchFamily="2" charset="2"/>
              </a:rPr>
              <a:t> E + T | T</a:t>
            </a:r>
          </a:p>
        </p:txBody>
      </p:sp>
      <p:sp>
        <p:nvSpPr>
          <p:cNvPr id="27" name="TextBox 26"/>
          <p:cNvSpPr txBox="1"/>
          <p:nvPr/>
        </p:nvSpPr>
        <p:spPr>
          <a:xfrm>
            <a:off x="8024550" y="4797038"/>
            <a:ext cx="1249060" cy="36933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A </a:t>
            </a:r>
            <a:r>
              <a:rPr lang="en-US" dirty="0">
                <a:sym typeface="Wingdings" panose="05000000000000000000" pitchFamily="2" charset="2"/>
              </a:rPr>
              <a:t> A</a:t>
            </a:r>
            <a:r>
              <a:rPr lang="el-GR" dirty="0">
                <a:sym typeface="Wingdings" panose="05000000000000000000" pitchFamily="2" charset="2"/>
              </a:rPr>
              <a:t>α</a:t>
            </a:r>
            <a:r>
              <a:rPr lang="en-US" dirty="0">
                <a:sym typeface="Wingdings" panose="05000000000000000000" pitchFamily="2" charset="2"/>
              </a:rPr>
              <a:t> | </a:t>
            </a:r>
            <a:r>
              <a:rPr lang="el-GR" dirty="0">
                <a:sym typeface="Wingdings" panose="05000000000000000000" pitchFamily="2" charset="2"/>
              </a:rPr>
              <a:t>β</a:t>
            </a:r>
            <a:endParaRPr lang="en-US" dirty="0"/>
          </a:p>
        </p:txBody>
      </p:sp>
      <p:sp>
        <p:nvSpPr>
          <p:cNvPr id="28" name="TextBox 27"/>
          <p:cNvSpPr txBox="1"/>
          <p:nvPr/>
        </p:nvSpPr>
        <p:spPr>
          <a:xfrm>
            <a:off x="8023516" y="5480643"/>
            <a:ext cx="2836742" cy="707886"/>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2000" dirty="0">
                <a:solidFill>
                  <a:srgbClr val="C00000"/>
                </a:solidFill>
              </a:rPr>
              <a:t>E </a:t>
            </a:r>
            <a:r>
              <a:rPr lang="en-US" sz="2000" dirty="0">
                <a:solidFill>
                  <a:srgbClr val="C00000"/>
                </a:solidFill>
                <a:sym typeface="Wingdings" panose="05000000000000000000" pitchFamily="2" charset="2"/>
              </a:rPr>
              <a:t> TE’</a:t>
            </a:r>
          </a:p>
          <a:p>
            <a:r>
              <a:rPr lang="en-US" sz="2000" dirty="0">
                <a:solidFill>
                  <a:srgbClr val="C00000"/>
                </a:solidFill>
                <a:sym typeface="Wingdings" panose="05000000000000000000" pitchFamily="2" charset="2"/>
              </a:rPr>
              <a:t>E’  +TE’ | </a:t>
            </a:r>
            <a:r>
              <a:rPr lang="el-GR" sz="2000" dirty="0">
                <a:solidFill>
                  <a:srgbClr val="C00000"/>
                </a:solidFill>
                <a:sym typeface="Wingdings" panose="05000000000000000000" pitchFamily="2" charset="2"/>
              </a:rPr>
              <a:t>ε</a:t>
            </a:r>
            <a:endParaRPr lang="en-US" sz="2000" dirty="0">
              <a:solidFill>
                <a:srgbClr val="C00000"/>
              </a:solidFill>
            </a:endParaRPr>
          </a:p>
        </p:txBody>
      </p:sp>
      <p:sp>
        <p:nvSpPr>
          <p:cNvPr id="29" name="Down Arrow 28"/>
          <p:cNvSpPr/>
          <p:nvPr/>
        </p:nvSpPr>
        <p:spPr>
          <a:xfrm>
            <a:off x="9760638" y="4906914"/>
            <a:ext cx="154745" cy="35790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14"/>
          <a:stretch>
            <a:fillRect/>
          </a:stretch>
        </p:blipFill>
        <p:spPr>
          <a:xfrm>
            <a:off x="3116075" y="4766655"/>
            <a:ext cx="495238" cy="352381"/>
          </a:xfrm>
          <a:prstGeom prst="rect">
            <a:avLst/>
          </a:prstGeom>
        </p:spPr>
      </p:pic>
      <p:pic>
        <p:nvPicPr>
          <p:cNvPr id="24" name="Picture 23"/>
          <p:cNvPicPr>
            <a:picLocks noChangeAspect="1"/>
          </p:cNvPicPr>
          <p:nvPr/>
        </p:nvPicPr>
        <p:blipFill>
          <a:blip r:embed="rId15"/>
          <a:stretch>
            <a:fillRect/>
          </a:stretch>
        </p:blipFill>
        <p:spPr>
          <a:xfrm>
            <a:off x="5928439" y="5013190"/>
            <a:ext cx="428571" cy="380952"/>
          </a:xfrm>
          <a:prstGeom prst="rect">
            <a:avLst/>
          </a:prstGeom>
        </p:spPr>
      </p:pic>
    </p:spTree>
    <p:extLst>
      <p:ext uri="{BB962C8B-B14F-4D97-AF65-F5344CB8AC3E}">
        <p14:creationId xmlns:p14="http://schemas.microsoft.com/office/powerpoint/2010/main" val="789865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 calcmode="lin" valueType="num">
                                      <p:cBhvr additive="base">
                                        <p:cTn id="27" dur="500" fill="hold"/>
                                        <p:tgtEl>
                                          <p:spTgt spid="21"/>
                                        </p:tgtEl>
                                        <p:attrNameLst>
                                          <p:attrName>ppt_x</p:attrName>
                                        </p:attrNameLst>
                                      </p:cBhvr>
                                      <p:tavLst>
                                        <p:tav tm="0">
                                          <p:val>
                                            <p:strVal val="#ppt_x"/>
                                          </p:val>
                                        </p:tav>
                                        <p:tav tm="100000">
                                          <p:val>
                                            <p:strVal val="#ppt_x"/>
                                          </p:val>
                                        </p:tav>
                                      </p:tavLst>
                                    </p:anim>
                                    <p:anim calcmode="lin" valueType="num">
                                      <p:cBhvr additive="base">
                                        <p:cTn id="28" dur="500" fill="hold"/>
                                        <p:tgtEl>
                                          <p:spTgt spid="2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 calcmode="lin" valueType="num">
                                      <p:cBhvr additive="base">
                                        <p:cTn id="35" dur="500" fill="hold"/>
                                        <p:tgtEl>
                                          <p:spTgt spid="22"/>
                                        </p:tgtEl>
                                        <p:attrNameLst>
                                          <p:attrName>ppt_x</p:attrName>
                                        </p:attrNameLst>
                                      </p:cBhvr>
                                      <p:tavLst>
                                        <p:tav tm="0">
                                          <p:val>
                                            <p:strVal val="#ppt_x"/>
                                          </p:val>
                                        </p:tav>
                                        <p:tav tm="100000">
                                          <p:val>
                                            <p:strVal val="#ppt_x"/>
                                          </p:val>
                                        </p:tav>
                                      </p:tavLst>
                                    </p:anim>
                                    <p:anim calcmode="lin" valueType="num">
                                      <p:cBhvr additive="base">
                                        <p:cTn id="3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 calcmode="lin" valueType="num">
                                      <p:cBhvr additive="base">
                                        <p:cTn id="41" dur="500" fill="hold"/>
                                        <p:tgtEl>
                                          <p:spTgt spid="25"/>
                                        </p:tgtEl>
                                        <p:attrNameLst>
                                          <p:attrName>ppt_x</p:attrName>
                                        </p:attrNameLst>
                                      </p:cBhvr>
                                      <p:tavLst>
                                        <p:tav tm="0">
                                          <p:val>
                                            <p:strVal val="#ppt_x"/>
                                          </p:val>
                                        </p:tav>
                                        <p:tav tm="100000">
                                          <p:val>
                                            <p:strVal val="#ppt_x"/>
                                          </p:val>
                                        </p:tav>
                                      </p:tavLst>
                                    </p:anim>
                                    <p:anim calcmode="lin" valueType="num">
                                      <p:cBhvr additive="base">
                                        <p:cTn id="42" dur="500" fill="hold"/>
                                        <p:tgtEl>
                                          <p:spTgt spid="25"/>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7"/>
                                        </p:tgtEl>
                                        <p:attrNameLst>
                                          <p:attrName>style.visibility</p:attrName>
                                        </p:attrNameLst>
                                      </p:cBhvr>
                                      <p:to>
                                        <p:strVal val="visible"/>
                                      </p:to>
                                    </p:set>
                                    <p:anim calcmode="lin" valueType="num">
                                      <p:cBhvr additive="base">
                                        <p:cTn id="45" dur="500" fill="hold"/>
                                        <p:tgtEl>
                                          <p:spTgt spid="27"/>
                                        </p:tgtEl>
                                        <p:attrNameLst>
                                          <p:attrName>ppt_x</p:attrName>
                                        </p:attrNameLst>
                                      </p:cBhvr>
                                      <p:tavLst>
                                        <p:tav tm="0">
                                          <p:val>
                                            <p:strVal val="#ppt_x"/>
                                          </p:val>
                                        </p:tav>
                                        <p:tav tm="100000">
                                          <p:val>
                                            <p:strVal val="#ppt_x"/>
                                          </p:val>
                                        </p:tav>
                                      </p:tavLst>
                                    </p:anim>
                                    <p:anim calcmode="lin" valueType="num">
                                      <p:cBhvr additive="base">
                                        <p:cTn id="46" dur="500" fill="hold"/>
                                        <p:tgtEl>
                                          <p:spTgt spid="27"/>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 calcmode="lin" valueType="num">
                                      <p:cBhvr additive="base">
                                        <p:cTn id="49" dur="500" fill="hold"/>
                                        <p:tgtEl>
                                          <p:spTgt spid="29"/>
                                        </p:tgtEl>
                                        <p:attrNameLst>
                                          <p:attrName>ppt_x</p:attrName>
                                        </p:attrNameLst>
                                      </p:cBhvr>
                                      <p:tavLst>
                                        <p:tav tm="0">
                                          <p:val>
                                            <p:strVal val="#ppt_x"/>
                                          </p:val>
                                        </p:tav>
                                        <p:tav tm="100000">
                                          <p:val>
                                            <p:strVal val="#ppt_x"/>
                                          </p:val>
                                        </p:tav>
                                      </p:tavLst>
                                    </p:anim>
                                    <p:anim calcmode="lin" valueType="num">
                                      <p:cBhvr additive="base">
                                        <p:cTn id="50" dur="500" fill="hold"/>
                                        <p:tgtEl>
                                          <p:spTgt spid="29"/>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8"/>
                                        </p:tgtEl>
                                        <p:attrNameLst>
                                          <p:attrName>style.visibility</p:attrName>
                                        </p:attrNameLst>
                                      </p:cBhvr>
                                      <p:to>
                                        <p:strVal val="visible"/>
                                      </p:to>
                                    </p:set>
                                    <p:anim calcmode="lin" valueType="num">
                                      <p:cBhvr additive="base">
                                        <p:cTn id="53" dur="500" fill="hold"/>
                                        <p:tgtEl>
                                          <p:spTgt spid="28"/>
                                        </p:tgtEl>
                                        <p:attrNameLst>
                                          <p:attrName>ppt_x</p:attrName>
                                        </p:attrNameLst>
                                      </p:cBhvr>
                                      <p:tavLst>
                                        <p:tav tm="0">
                                          <p:val>
                                            <p:strVal val="#ppt_x"/>
                                          </p:val>
                                        </p:tav>
                                        <p:tav tm="100000">
                                          <p:val>
                                            <p:strVal val="#ppt_x"/>
                                          </p:val>
                                        </p:tav>
                                      </p:tavLst>
                                    </p:anim>
                                    <p:anim calcmode="lin" valueType="num">
                                      <p:cBhvr additive="base">
                                        <p:cTn id="54"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5" grpId="0" animBg="1"/>
      <p:bldP spid="27" grpId="0" animBg="1"/>
      <p:bldP spid="28" grpId="0" animBg="1"/>
      <p:bldP spid="2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Elimination of Left Recursion (</a:t>
            </a:r>
            <a:r>
              <a:rPr lang="en-US" dirty="0" err="1"/>
              <a:t>ctd</a:t>
            </a:r>
            <a:r>
              <a:rPr lang="en-US" dirty="0"/>
              <a:t>)</a:t>
            </a:r>
          </a:p>
        </p:txBody>
      </p:sp>
      <p:sp>
        <p:nvSpPr>
          <p:cNvPr id="3" name="Content Placeholder 2"/>
          <p:cNvSpPr>
            <a:spLocks noGrp="1"/>
          </p:cNvSpPr>
          <p:nvPr>
            <p:ph idx="1"/>
          </p:nvPr>
        </p:nvSpPr>
        <p:spPr>
          <a:xfrm>
            <a:off x="332509" y="1417638"/>
            <a:ext cx="11707091" cy="4898756"/>
          </a:xfrm>
        </p:spPr>
        <p:txBody>
          <a:bodyPr>
            <a:normAutofit/>
          </a:bodyPr>
          <a:lstStyle/>
          <a:p>
            <a:r>
              <a:rPr lang="en-US" sz="2400" dirty="0"/>
              <a:t>A grammar is left recursive if it has a </a:t>
            </a:r>
            <a:br>
              <a:rPr lang="en-US" sz="2400" dirty="0"/>
            </a:br>
            <a:r>
              <a:rPr lang="en-US" sz="2400" dirty="0"/>
              <a:t>nonterminal A such that there is a derivation </a:t>
            </a:r>
            <a:br>
              <a:rPr lang="en-US" sz="2400" dirty="0"/>
            </a:br>
            <a:r>
              <a:rPr lang="en-US" sz="2400" dirty="0"/>
              <a:t>                     for some string </a:t>
            </a:r>
            <a:r>
              <a:rPr lang="el-GR" sz="2400" dirty="0"/>
              <a:t>α</a:t>
            </a:r>
            <a:r>
              <a:rPr lang="en-US" sz="2400" dirty="0"/>
              <a:t>.</a:t>
            </a:r>
          </a:p>
          <a:p>
            <a:r>
              <a:rPr lang="en-US" sz="2400" dirty="0"/>
              <a:t>Top-down parsing methods cannot handle left-recursive grammars, so a transformation is needed to eliminate left recursion. </a:t>
            </a:r>
          </a:p>
          <a:p>
            <a:r>
              <a:rPr lang="en-US" sz="2400" dirty="0"/>
              <a:t>The following non-left-recursive variant of the expression grammar (4.1) will be used for top-down parsing:</a:t>
            </a:r>
          </a:p>
          <a:p>
            <a:endParaRPr lang="en-US" sz="2400" dirty="0"/>
          </a:p>
        </p:txBody>
      </p:sp>
      <p:sp>
        <p:nvSpPr>
          <p:cNvPr id="8" name="Slide Number Placeholder 7"/>
          <p:cNvSpPr>
            <a:spLocks noGrp="1"/>
          </p:cNvSpPr>
          <p:nvPr>
            <p:ph type="sldNum" sz="quarter" idx="12"/>
          </p:nvPr>
        </p:nvSpPr>
        <p:spPr/>
        <p:txBody>
          <a:bodyPr/>
          <a:lstStyle/>
          <a:p>
            <a:fld id="{3D7797CA-7415-49AC-BCED-E58EC2F42C7F}" type="slidenum">
              <a:rPr lang="en-US" smtClean="0"/>
              <a:pPr/>
              <a:t>4</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6904410" y="1456314"/>
            <a:ext cx="5204460" cy="952500"/>
          </a:xfrm>
          <a:prstGeom prst="rect">
            <a:avLst/>
          </a:prstGeom>
        </p:spPr>
        <p:style>
          <a:lnRef idx="1">
            <a:schemeClr val="accent2"/>
          </a:lnRef>
          <a:fillRef idx="2">
            <a:schemeClr val="accent2"/>
          </a:fillRef>
          <a:effectRef idx="1">
            <a:schemeClr val="accent2"/>
          </a:effectRef>
          <a:fontRef idx="minor">
            <a:schemeClr val="dk1"/>
          </a:fontRef>
        </p:style>
      </p:pic>
      <p:pic>
        <p:nvPicPr>
          <p:cNvPr id="5" name="Picture 4"/>
          <p:cNvPicPr>
            <a:picLocks noChangeAspect="1"/>
          </p:cNvPicPr>
          <p:nvPr/>
        </p:nvPicPr>
        <p:blipFill>
          <a:blip r:embed="rId3"/>
          <a:stretch>
            <a:fillRect/>
          </a:stretch>
        </p:blipFill>
        <p:spPr>
          <a:xfrm>
            <a:off x="1292363" y="4366345"/>
            <a:ext cx="6448425" cy="1838325"/>
          </a:xfrm>
          <a:prstGeom prst="rect">
            <a:avLst/>
          </a:prstGeom>
        </p:spPr>
        <p:style>
          <a:lnRef idx="1">
            <a:schemeClr val="accent5"/>
          </a:lnRef>
          <a:fillRef idx="2">
            <a:schemeClr val="accent5"/>
          </a:fillRef>
          <a:effectRef idx="1">
            <a:schemeClr val="accent5"/>
          </a:effectRef>
          <a:fontRef idx="minor">
            <a:schemeClr val="dk1"/>
          </a:fontRef>
        </p:style>
      </p:pic>
      <p:pic>
        <p:nvPicPr>
          <p:cNvPr id="12" name="Picture 11"/>
          <p:cNvPicPr>
            <a:picLocks noChangeAspect="1"/>
          </p:cNvPicPr>
          <p:nvPr/>
        </p:nvPicPr>
        <p:blipFill>
          <a:blip r:embed="rId4"/>
          <a:stretch>
            <a:fillRect/>
          </a:stretch>
        </p:blipFill>
        <p:spPr>
          <a:xfrm>
            <a:off x="726790" y="2148179"/>
            <a:ext cx="1314450" cy="371475"/>
          </a:xfrm>
          <a:prstGeom prst="rect">
            <a:avLst/>
          </a:prstGeom>
        </p:spPr>
      </p:pic>
      <p:pic>
        <p:nvPicPr>
          <p:cNvPr id="10" name="Picture 9"/>
          <p:cNvPicPr>
            <a:picLocks noChangeAspect="1"/>
          </p:cNvPicPr>
          <p:nvPr/>
        </p:nvPicPr>
        <p:blipFill>
          <a:blip r:embed="rId5"/>
          <a:stretch>
            <a:fillRect/>
          </a:stretch>
        </p:blipFill>
        <p:spPr>
          <a:xfrm>
            <a:off x="10436157" y="5528972"/>
            <a:ext cx="1561905" cy="685714"/>
          </a:xfrm>
          <a:prstGeom prst="rect">
            <a:avLst/>
          </a:prstGeom>
        </p:spPr>
        <p:style>
          <a:lnRef idx="2">
            <a:schemeClr val="accent5"/>
          </a:lnRef>
          <a:fillRef idx="1">
            <a:schemeClr val="lt1"/>
          </a:fillRef>
          <a:effectRef idx="0">
            <a:schemeClr val="accent5"/>
          </a:effectRef>
          <a:fontRef idx="minor">
            <a:schemeClr val="dk1"/>
          </a:fontRef>
        </p:style>
      </p:pic>
      <p:pic>
        <p:nvPicPr>
          <p:cNvPr id="11" name="Picture 10"/>
          <p:cNvPicPr>
            <a:picLocks noChangeAspect="1"/>
          </p:cNvPicPr>
          <p:nvPr/>
        </p:nvPicPr>
        <p:blipFill>
          <a:blip r:embed="rId6"/>
          <a:stretch>
            <a:fillRect/>
          </a:stretch>
        </p:blipFill>
        <p:spPr>
          <a:xfrm>
            <a:off x="8455170" y="5786399"/>
            <a:ext cx="1847619" cy="457143"/>
          </a:xfrm>
          <a:prstGeom prst="rect">
            <a:avLst/>
          </a:prstGeom>
        </p:spPr>
      </p:pic>
    </p:spTree>
    <p:extLst>
      <p:ext uri="{BB962C8B-B14F-4D97-AF65-F5344CB8AC3E}">
        <p14:creationId xmlns:p14="http://schemas.microsoft.com/office/powerpoint/2010/main" val="472743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Left Factoring</a:t>
            </a:r>
          </a:p>
        </p:txBody>
      </p:sp>
      <p:sp>
        <p:nvSpPr>
          <p:cNvPr id="3" name="Content Placeholder 2"/>
          <p:cNvSpPr>
            <a:spLocks noGrp="1"/>
          </p:cNvSpPr>
          <p:nvPr>
            <p:ph idx="1"/>
          </p:nvPr>
        </p:nvSpPr>
        <p:spPr>
          <a:xfrm>
            <a:off x="332509" y="1417638"/>
            <a:ext cx="11707091" cy="2461635"/>
          </a:xfrm>
        </p:spPr>
        <p:txBody>
          <a:bodyPr>
            <a:normAutofit/>
          </a:bodyPr>
          <a:lstStyle/>
          <a:p>
            <a:r>
              <a:rPr lang="en-US" sz="2400" dirty="0"/>
              <a:t>Left factoring is a grammar transformation that is useful for producing a grammar suitable for predictive (a type of top-down) parsing.</a:t>
            </a:r>
          </a:p>
          <a:p>
            <a:r>
              <a:rPr lang="en-US" sz="2400" dirty="0"/>
              <a:t>When the choice between two alternative A-productions is not clear, we may be able to rewrite the productions to defer the decision until enough of the input has been seen that we can make the right choice.</a:t>
            </a:r>
          </a:p>
        </p:txBody>
      </p:sp>
      <p:sp>
        <p:nvSpPr>
          <p:cNvPr id="8" name="Slide Number Placeholder 7"/>
          <p:cNvSpPr>
            <a:spLocks noGrp="1"/>
          </p:cNvSpPr>
          <p:nvPr>
            <p:ph type="sldNum" sz="quarter" idx="12"/>
          </p:nvPr>
        </p:nvSpPr>
        <p:spPr/>
        <p:txBody>
          <a:bodyPr/>
          <a:lstStyle/>
          <a:p>
            <a:fld id="{3D7797CA-7415-49AC-BCED-E58EC2F42C7F}" type="slidenum">
              <a:rPr lang="en-US" smtClean="0"/>
              <a:pPr/>
              <a:t>5</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1084114" y="3510396"/>
            <a:ext cx="10134600" cy="2857500"/>
          </a:xfrm>
          <a:prstGeom prst="rect">
            <a:avLst/>
          </a:prstGeom>
        </p:spPr>
      </p:pic>
    </p:spTree>
    <p:extLst>
      <p:ext uri="{BB962C8B-B14F-4D97-AF65-F5344CB8AC3E}">
        <p14:creationId xmlns:p14="http://schemas.microsoft.com/office/powerpoint/2010/main" val="1414253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Applying Left Factoring (</a:t>
            </a:r>
            <a:r>
              <a:rPr lang="en-US" dirty="0" err="1"/>
              <a:t>ctd</a:t>
            </a:r>
            <a:r>
              <a:rPr lang="en-US" dirty="0"/>
              <a:t>)</a:t>
            </a:r>
          </a:p>
        </p:txBody>
      </p:sp>
      <p:sp>
        <p:nvSpPr>
          <p:cNvPr id="8" name="Slide Number Placeholder 7"/>
          <p:cNvSpPr>
            <a:spLocks noGrp="1"/>
          </p:cNvSpPr>
          <p:nvPr>
            <p:ph type="sldNum" sz="quarter" idx="12"/>
          </p:nvPr>
        </p:nvSpPr>
        <p:spPr/>
        <p:txBody>
          <a:bodyPr/>
          <a:lstStyle/>
          <a:p>
            <a:fld id="{3D7797CA-7415-49AC-BCED-E58EC2F42C7F}" type="slidenum">
              <a:rPr lang="en-US" smtClean="0"/>
              <a:pPr/>
              <a:t>6</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6" name="Picture 5"/>
          <p:cNvPicPr>
            <a:picLocks noChangeAspect="1"/>
          </p:cNvPicPr>
          <p:nvPr/>
        </p:nvPicPr>
        <p:blipFill>
          <a:blip r:embed="rId2"/>
          <a:stretch>
            <a:fillRect/>
          </a:stretch>
        </p:blipFill>
        <p:spPr>
          <a:xfrm>
            <a:off x="307975" y="1694584"/>
            <a:ext cx="3857625" cy="476250"/>
          </a:xfrm>
          <a:prstGeom prst="rect">
            <a:avLst/>
          </a:prstGeom>
        </p:spPr>
        <p:style>
          <a:lnRef idx="1">
            <a:schemeClr val="accent2"/>
          </a:lnRef>
          <a:fillRef idx="2">
            <a:schemeClr val="accent2"/>
          </a:fillRef>
          <a:effectRef idx="1">
            <a:schemeClr val="accent2"/>
          </a:effectRef>
          <a:fontRef idx="minor">
            <a:schemeClr val="dk1"/>
          </a:fontRef>
        </p:style>
      </p:pic>
      <p:pic>
        <p:nvPicPr>
          <p:cNvPr id="10" name="Picture 9"/>
          <p:cNvPicPr>
            <a:picLocks noChangeAspect="1"/>
          </p:cNvPicPr>
          <p:nvPr/>
        </p:nvPicPr>
        <p:blipFill>
          <a:blip r:embed="rId3"/>
          <a:stretch>
            <a:fillRect/>
          </a:stretch>
        </p:blipFill>
        <p:spPr>
          <a:xfrm>
            <a:off x="3009612" y="2415164"/>
            <a:ext cx="3638550" cy="866775"/>
          </a:xfrm>
          <a:prstGeom prst="rect">
            <a:avLst/>
          </a:prstGeom>
        </p:spPr>
        <p:style>
          <a:lnRef idx="1">
            <a:schemeClr val="accent5"/>
          </a:lnRef>
          <a:fillRef idx="2">
            <a:schemeClr val="accent5"/>
          </a:fillRef>
          <a:effectRef idx="1">
            <a:schemeClr val="accent5"/>
          </a:effectRef>
          <a:fontRef idx="minor">
            <a:schemeClr val="dk1"/>
          </a:fontRef>
        </p:style>
      </p:pic>
      <p:pic>
        <p:nvPicPr>
          <p:cNvPr id="11" name="Picture 10"/>
          <p:cNvPicPr>
            <a:picLocks noChangeAspect="1"/>
          </p:cNvPicPr>
          <p:nvPr/>
        </p:nvPicPr>
        <p:blipFill>
          <a:blip r:embed="rId4"/>
          <a:stretch>
            <a:fillRect/>
          </a:stretch>
        </p:blipFill>
        <p:spPr>
          <a:xfrm>
            <a:off x="191799" y="4001730"/>
            <a:ext cx="7153275" cy="904875"/>
          </a:xfrm>
          <a:prstGeom prst="rect">
            <a:avLst/>
          </a:prstGeom>
        </p:spPr>
        <p:style>
          <a:lnRef idx="1">
            <a:schemeClr val="accent2"/>
          </a:lnRef>
          <a:fillRef idx="2">
            <a:schemeClr val="accent2"/>
          </a:fillRef>
          <a:effectRef idx="1">
            <a:schemeClr val="accent2"/>
          </a:effectRef>
          <a:fontRef idx="minor">
            <a:schemeClr val="dk1"/>
          </a:fontRef>
        </p:style>
      </p:pic>
      <p:pic>
        <p:nvPicPr>
          <p:cNvPr id="12" name="Picture 11"/>
          <p:cNvPicPr>
            <a:picLocks noChangeAspect="1"/>
          </p:cNvPicPr>
          <p:nvPr/>
        </p:nvPicPr>
        <p:blipFill>
          <a:blip r:embed="rId5"/>
          <a:stretch>
            <a:fillRect/>
          </a:stretch>
        </p:blipFill>
        <p:spPr>
          <a:xfrm>
            <a:off x="3009612" y="5134592"/>
            <a:ext cx="6438900" cy="1133475"/>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4079842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Parsing</a:t>
            </a:r>
          </a:p>
        </p:txBody>
      </p:sp>
      <p:sp>
        <p:nvSpPr>
          <p:cNvPr id="3" name="Content Placeholder 2"/>
          <p:cNvSpPr>
            <a:spLocks noGrp="1"/>
          </p:cNvSpPr>
          <p:nvPr>
            <p:ph idx="1"/>
          </p:nvPr>
        </p:nvSpPr>
        <p:spPr>
          <a:xfrm>
            <a:off x="508000" y="1600200"/>
            <a:ext cx="11074400" cy="4716194"/>
          </a:xfrm>
        </p:spPr>
        <p:txBody>
          <a:bodyPr>
            <a:normAutofit/>
          </a:bodyPr>
          <a:lstStyle/>
          <a:p>
            <a:r>
              <a:rPr lang="en-US" sz="2400" dirty="0"/>
              <a:t>Top-down parsing can be viewed as the problem of constructing a parse tree for the input string, starting from the root and creating the nodes of the parse tree in preorder (depth-first)</a:t>
            </a:r>
            <a:br>
              <a:rPr lang="en-US" sz="2400" dirty="0"/>
            </a:br>
            <a:r>
              <a:rPr lang="en-US" sz="2400" i="1" dirty="0"/>
              <a:t>Note: Preorder Traversal is in the order of current-left-right nodes</a:t>
            </a:r>
          </a:p>
          <a:p>
            <a:r>
              <a:rPr lang="en-US" sz="2400" dirty="0"/>
              <a:t>Equivalently, top-down parsing can be viewed as finding a leftmost derivation for an input string.</a:t>
            </a:r>
          </a:p>
          <a:p>
            <a:r>
              <a:rPr lang="en-US" sz="2400" dirty="0"/>
              <a:t>The sequence of parse trees in Fig. 4.12 for the input </a:t>
            </a:r>
            <a:r>
              <a:rPr lang="en-US" sz="2400" b="1" dirty="0" err="1"/>
              <a:t>id+id</a:t>
            </a:r>
            <a:r>
              <a:rPr lang="en-US" sz="3600" b="1" baseline="-20000" dirty="0"/>
              <a:t>*</a:t>
            </a:r>
            <a:r>
              <a:rPr lang="en-US" sz="2400" b="1" dirty="0"/>
              <a:t>id </a:t>
            </a:r>
            <a:r>
              <a:rPr lang="en-US" sz="2400" dirty="0"/>
              <a:t>is a top-down parse according to grammar:</a:t>
            </a:r>
          </a:p>
        </p:txBody>
      </p:sp>
      <p:sp>
        <p:nvSpPr>
          <p:cNvPr id="8" name="Slide Number Placeholder 7"/>
          <p:cNvSpPr>
            <a:spLocks noGrp="1"/>
          </p:cNvSpPr>
          <p:nvPr>
            <p:ph type="sldNum" sz="quarter" idx="12"/>
          </p:nvPr>
        </p:nvSpPr>
        <p:spPr/>
        <p:txBody>
          <a:bodyPr/>
          <a:lstStyle/>
          <a:p>
            <a:fld id="{3D7797CA-7415-49AC-BCED-E58EC2F42C7F}" type="slidenum">
              <a:rPr lang="en-US" smtClean="0"/>
              <a:pPr/>
              <a:t>7</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4706648" y="4357687"/>
            <a:ext cx="3000375" cy="1800225"/>
          </a:xfrm>
          <a:prstGeom prst="rect">
            <a:avLst/>
          </a:prstGeom>
          <a:ln/>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850078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Parsing (</a:t>
            </a:r>
            <a:r>
              <a:rPr lang="en-US" dirty="0" err="1"/>
              <a:t>ctd</a:t>
            </a:r>
            <a:r>
              <a:rPr lang="en-US" dirty="0"/>
              <a:t>)</a:t>
            </a:r>
          </a:p>
        </p:txBody>
      </p:sp>
      <p:sp>
        <p:nvSpPr>
          <p:cNvPr id="8" name="Slide Number Placeholder 7"/>
          <p:cNvSpPr>
            <a:spLocks noGrp="1"/>
          </p:cNvSpPr>
          <p:nvPr>
            <p:ph type="sldNum" sz="quarter" idx="12"/>
          </p:nvPr>
        </p:nvSpPr>
        <p:spPr/>
        <p:txBody>
          <a:bodyPr/>
          <a:lstStyle/>
          <a:p>
            <a:fld id="{3D7797CA-7415-49AC-BCED-E58EC2F42C7F}" type="slidenum">
              <a:rPr lang="en-US" smtClean="0"/>
              <a:pPr/>
              <a:t>8</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9694286" y="1467536"/>
            <a:ext cx="2400300" cy="1440180"/>
          </a:xfrm>
          <a:prstGeom prst="rect">
            <a:avLst/>
          </a:prstGeom>
          <a:ln/>
        </p:spPr>
        <p:style>
          <a:lnRef idx="1">
            <a:schemeClr val="accent2"/>
          </a:lnRef>
          <a:fillRef idx="2">
            <a:schemeClr val="accent2"/>
          </a:fillRef>
          <a:effectRef idx="1">
            <a:schemeClr val="accent2"/>
          </a:effectRef>
          <a:fontRef idx="minor">
            <a:schemeClr val="dk1"/>
          </a:fontRef>
        </p:style>
      </p:pic>
      <p:pic>
        <p:nvPicPr>
          <p:cNvPr id="5" name="Picture 4"/>
          <p:cNvPicPr>
            <a:picLocks noChangeAspect="1"/>
          </p:cNvPicPr>
          <p:nvPr/>
        </p:nvPicPr>
        <p:blipFill>
          <a:blip r:embed="rId3"/>
          <a:stretch>
            <a:fillRect/>
          </a:stretch>
        </p:blipFill>
        <p:spPr>
          <a:xfrm>
            <a:off x="197211" y="1968196"/>
            <a:ext cx="9258300" cy="1971675"/>
          </a:xfrm>
          <a:prstGeom prst="rect">
            <a:avLst/>
          </a:prstGeom>
        </p:spPr>
        <p:style>
          <a:lnRef idx="1">
            <a:schemeClr val="accent5"/>
          </a:lnRef>
          <a:fillRef idx="2">
            <a:schemeClr val="accent5"/>
          </a:fillRef>
          <a:effectRef idx="1">
            <a:schemeClr val="accent5"/>
          </a:effectRef>
          <a:fontRef idx="minor">
            <a:schemeClr val="dk1"/>
          </a:fontRef>
        </p:style>
      </p:pic>
      <p:pic>
        <p:nvPicPr>
          <p:cNvPr id="6" name="Picture 5"/>
          <p:cNvPicPr>
            <a:picLocks noChangeAspect="1"/>
          </p:cNvPicPr>
          <p:nvPr/>
        </p:nvPicPr>
        <p:blipFill>
          <a:blip r:embed="rId4"/>
          <a:stretch>
            <a:fillRect/>
          </a:stretch>
        </p:blipFill>
        <p:spPr>
          <a:xfrm>
            <a:off x="1241713" y="4033230"/>
            <a:ext cx="9182100" cy="2381250"/>
          </a:xfrm>
          <a:prstGeom prst="rect">
            <a:avLst/>
          </a:prstGeom>
        </p:spPr>
        <p:style>
          <a:lnRef idx="1">
            <a:schemeClr val="accent5"/>
          </a:lnRef>
          <a:fillRef idx="2">
            <a:schemeClr val="accent5"/>
          </a:fillRef>
          <a:effectRef idx="1">
            <a:schemeClr val="accent5"/>
          </a:effectRef>
          <a:fontRef idx="minor">
            <a:schemeClr val="dk1"/>
          </a:fontRef>
        </p:style>
      </p:pic>
      <p:sp>
        <p:nvSpPr>
          <p:cNvPr id="11" name="Content Placeholder 2"/>
          <p:cNvSpPr>
            <a:spLocks noGrp="1"/>
          </p:cNvSpPr>
          <p:nvPr>
            <p:ph idx="1"/>
          </p:nvPr>
        </p:nvSpPr>
        <p:spPr>
          <a:xfrm>
            <a:off x="78513" y="1420085"/>
            <a:ext cx="9425709" cy="464127"/>
          </a:xfrm>
        </p:spPr>
        <p:txBody>
          <a:bodyPr>
            <a:normAutofit fontScale="92500"/>
          </a:bodyPr>
          <a:lstStyle/>
          <a:p>
            <a:pPr marL="0" indent="0">
              <a:buNone/>
            </a:pPr>
            <a:r>
              <a:rPr lang="en-US" sz="2400" dirty="0"/>
              <a:t>This sequence of trees corresponds to a leftmost derivation of the input: </a:t>
            </a:r>
            <a:r>
              <a:rPr lang="en-US" sz="2400" b="1" dirty="0" err="1"/>
              <a:t>id+id</a:t>
            </a:r>
            <a:r>
              <a:rPr lang="en-US" sz="3600" b="1" baseline="-20000" dirty="0"/>
              <a:t>*</a:t>
            </a:r>
            <a:r>
              <a:rPr lang="en-US" sz="2400" b="1" dirty="0"/>
              <a:t>id</a:t>
            </a:r>
            <a:endParaRPr lang="en-US" sz="2400" dirty="0"/>
          </a:p>
        </p:txBody>
      </p:sp>
    </p:spTree>
    <p:extLst>
      <p:ext uri="{BB962C8B-B14F-4D97-AF65-F5344CB8AC3E}">
        <p14:creationId xmlns:p14="http://schemas.microsoft.com/office/powerpoint/2010/main" val="1285916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Parsing (</a:t>
            </a:r>
            <a:r>
              <a:rPr lang="en-US" dirty="0" err="1"/>
              <a:t>ctd</a:t>
            </a:r>
            <a:r>
              <a:rPr lang="en-US" dirty="0"/>
              <a:t>)</a:t>
            </a:r>
          </a:p>
        </p:txBody>
      </p:sp>
      <p:sp>
        <p:nvSpPr>
          <p:cNvPr id="8" name="Slide Number Placeholder 7"/>
          <p:cNvSpPr>
            <a:spLocks noGrp="1"/>
          </p:cNvSpPr>
          <p:nvPr>
            <p:ph type="sldNum" sz="quarter" idx="12"/>
          </p:nvPr>
        </p:nvSpPr>
        <p:spPr/>
        <p:txBody>
          <a:bodyPr/>
          <a:lstStyle/>
          <a:p>
            <a:fld id="{3D7797CA-7415-49AC-BCED-E58EC2F42C7F}" type="slidenum">
              <a:rPr lang="en-US" smtClean="0"/>
              <a:pPr/>
              <a:t>9</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9694286" y="1473989"/>
            <a:ext cx="2400300" cy="1440180"/>
          </a:xfrm>
          <a:prstGeom prst="rect">
            <a:avLst/>
          </a:prstGeom>
          <a:ln/>
        </p:spPr>
        <p:style>
          <a:lnRef idx="1">
            <a:schemeClr val="accent2"/>
          </a:lnRef>
          <a:fillRef idx="2">
            <a:schemeClr val="accent2"/>
          </a:fillRef>
          <a:effectRef idx="1">
            <a:schemeClr val="accent2"/>
          </a:effectRef>
          <a:fontRef idx="minor">
            <a:schemeClr val="dk1"/>
          </a:fontRef>
        </p:style>
      </p:pic>
      <p:pic>
        <p:nvPicPr>
          <p:cNvPr id="10" name="Picture 9"/>
          <p:cNvPicPr>
            <a:picLocks noChangeAspect="1"/>
          </p:cNvPicPr>
          <p:nvPr/>
        </p:nvPicPr>
        <p:blipFill>
          <a:blip r:embed="rId3"/>
          <a:stretch>
            <a:fillRect/>
          </a:stretch>
        </p:blipFill>
        <p:spPr>
          <a:xfrm>
            <a:off x="127866" y="1487498"/>
            <a:ext cx="9363075" cy="2914650"/>
          </a:xfrm>
          <a:prstGeom prst="rect">
            <a:avLst/>
          </a:prstGeom>
        </p:spPr>
        <p:style>
          <a:lnRef idx="1">
            <a:schemeClr val="accent5"/>
          </a:lnRef>
          <a:fillRef idx="2">
            <a:schemeClr val="accent5"/>
          </a:fillRef>
          <a:effectRef idx="1">
            <a:schemeClr val="accent5"/>
          </a:effectRef>
          <a:fontRef idx="minor">
            <a:schemeClr val="dk1"/>
          </a:fontRef>
        </p:style>
      </p:pic>
      <p:sp>
        <p:nvSpPr>
          <p:cNvPr id="11" name="Content Placeholder 2"/>
          <p:cNvSpPr>
            <a:spLocks noGrp="1"/>
          </p:cNvSpPr>
          <p:nvPr>
            <p:ph idx="1"/>
          </p:nvPr>
        </p:nvSpPr>
        <p:spPr>
          <a:xfrm>
            <a:off x="438725" y="4527428"/>
            <a:ext cx="11074400" cy="1844386"/>
          </a:xfrm>
        </p:spPr>
        <p:txBody>
          <a:bodyPr>
            <a:normAutofit/>
          </a:bodyPr>
          <a:lstStyle/>
          <a:p>
            <a:r>
              <a:rPr lang="en-US" sz="2400" dirty="0"/>
              <a:t>At each step of a top-down parse, the key problem is that of determining the production to be applied for a nonterminal, say A.</a:t>
            </a:r>
          </a:p>
          <a:p>
            <a:r>
              <a:rPr lang="en-US" sz="2400" dirty="0"/>
              <a:t>Once an A-production is chosen, the rest of the parsing process consists of "matching" the terminal symbols in the production body with the input string.</a:t>
            </a:r>
          </a:p>
        </p:txBody>
      </p:sp>
      <p:sp>
        <p:nvSpPr>
          <p:cNvPr id="3" name="Rectangle 2"/>
          <p:cNvSpPr/>
          <p:nvPr/>
        </p:nvSpPr>
        <p:spPr>
          <a:xfrm>
            <a:off x="10253074" y="3259133"/>
            <a:ext cx="1282723" cy="461665"/>
          </a:xfrm>
          <a:prstGeom prst="rect">
            <a:avLst/>
          </a:prstGeom>
        </p:spPr>
        <p:style>
          <a:lnRef idx="2">
            <a:schemeClr val="accent1"/>
          </a:lnRef>
          <a:fillRef idx="1">
            <a:schemeClr val="lt1"/>
          </a:fillRef>
          <a:effectRef idx="0">
            <a:schemeClr val="accent1"/>
          </a:effectRef>
          <a:fontRef idx="minor">
            <a:schemeClr val="dk1"/>
          </a:fontRef>
        </p:style>
        <p:txBody>
          <a:bodyPr wrap="none">
            <a:spAutoFit/>
          </a:bodyPr>
          <a:lstStyle/>
          <a:p>
            <a:r>
              <a:rPr lang="en-US" sz="2400" b="1" dirty="0" err="1"/>
              <a:t>id+id</a:t>
            </a:r>
            <a:r>
              <a:rPr lang="en-US" sz="3600" b="1" baseline="-20000" dirty="0"/>
              <a:t>*</a:t>
            </a:r>
            <a:r>
              <a:rPr lang="en-US" sz="2400" b="1" dirty="0"/>
              <a:t>id </a:t>
            </a:r>
            <a:endParaRPr lang="en-US" sz="2400" dirty="0"/>
          </a:p>
        </p:txBody>
      </p:sp>
    </p:spTree>
    <p:extLst>
      <p:ext uri="{BB962C8B-B14F-4D97-AF65-F5344CB8AC3E}">
        <p14:creationId xmlns:p14="http://schemas.microsoft.com/office/powerpoint/2010/main" val="1202159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Top-Down Parsing (</a:t>
            </a:r>
            <a:r>
              <a:rPr lang="en-US" dirty="0" err="1"/>
              <a:t>ctd</a:t>
            </a:r>
            <a:r>
              <a:rPr lang="en-US" dirty="0"/>
              <a:t>)</a:t>
            </a:r>
          </a:p>
        </p:txBody>
      </p:sp>
      <p:sp>
        <p:nvSpPr>
          <p:cNvPr id="3" name="Content Placeholder 2"/>
          <p:cNvSpPr>
            <a:spLocks noGrp="1"/>
          </p:cNvSpPr>
          <p:nvPr>
            <p:ph idx="1"/>
          </p:nvPr>
        </p:nvSpPr>
        <p:spPr>
          <a:xfrm>
            <a:off x="300175" y="1530925"/>
            <a:ext cx="11614734" cy="4716194"/>
          </a:xfrm>
        </p:spPr>
        <p:txBody>
          <a:bodyPr>
            <a:noAutofit/>
          </a:bodyPr>
          <a:lstStyle/>
          <a:p>
            <a:r>
              <a:rPr lang="en-US" sz="2400" dirty="0"/>
              <a:t>A general form of top-down parsing, called </a:t>
            </a:r>
            <a:r>
              <a:rPr lang="en-US" sz="2400" b="1" i="1" dirty="0"/>
              <a:t>recursive-descent parsing</a:t>
            </a:r>
            <a:r>
              <a:rPr lang="en-US" sz="2400" dirty="0"/>
              <a:t>, may require backtracking to find the correct A-production to be applied.</a:t>
            </a:r>
          </a:p>
          <a:p>
            <a:r>
              <a:rPr lang="en-US" sz="2400" dirty="0"/>
              <a:t>Another form is </a:t>
            </a:r>
            <a:r>
              <a:rPr lang="en-US" sz="2400" b="1" i="1" dirty="0"/>
              <a:t>predictive parsing</a:t>
            </a:r>
            <a:r>
              <a:rPr lang="en-US" sz="2400" dirty="0"/>
              <a:t>, a special case of recursive-descent parsing, where no backtracking is required.</a:t>
            </a:r>
          </a:p>
          <a:p>
            <a:r>
              <a:rPr lang="en-US" sz="2400" dirty="0"/>
              <a:t>Predictive parsing chooses the correct A-production by looking ahead at the input a fixed number of symbols, typically we may look only at one (that is, the next input symbol).</a:t>
            </a:r>
          </a:p>
          <a:p>
            <a:r>
              <a:rPr lang="en-US" sz="2400" dirty="0"/>
              <a:t>For example, consider the top-down parse in Fig. 4.12, which constructs a tree with two nodes labeled E'. At the first E' node (in preorder), the production E' --&gt; +TE' is chosen; at the second E' node, the production E' --&gt; ε is chosen. A predictive parser can choose between E'-productions by looking at the next input symbol.</a:t>
            </a:r>
          </a:p>
          <a:p>
            <a:r>
              <a:rPr lang="en-US" sz="2400" dirty="0"/>
              <a:t>The class of grammars for which we can construct predictive parsers looking k symbols ahead in the input is sometimes called the LL(k) class.</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10</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spTree>
    <p:extLst>
      <p:ext uri="{BB962C8B-B14F-4D97-AF65-F5344CB8AC3E}">
        <p14:creationId xmlns:p14="http://schemas.microsoft.com/office/powerpoint/2010/main" val="1742761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Recursive-Descent Parsing</a:t>
            </a:r>
          </a:p>
        </p:txBody>
      </p:sp>
      <p:sp>
        <p:nvSpPr>
          <p:cNvPr id="3" name="Content Placeholder 2"/>
          <p:cNvSpPr>
            <a:spLocks noGrp="1"/>
          </p:cNvSpPr>
          <p:nvPr>
            <p:ph idx="1"/>
          </p:nvPr>
        </p:nvSpPr>
        <p:spPr>
          <a:xfrm>
            <a:off x="120076" y="1683330"/>
            <a:ext cx="11074400" cy="4716194"/>
          </a:xfrm>
        </p:spPr>
        <p:txBody>
          <a:bodyPr>
            <a:normAutofit/>
          </a:bodyPr>
          <a:lstStyle/>
          <a:p>
            <a:r>
              <a:rPr lang="en-US" sz="2400" dirty="0"/>
              <a:t>A recursive-descent parsing</a:t>
            </a:r>
            <a:br>
              <a:rPr lang="en-US" sz="2400" dirty="0"/>
            </a:br>
            <a:r>
              <a:rPr lang="en-US" sz="2400" dirty="0"/>
              <a:t>program consists of a set of</a:t>
            </a:r>
            <a:br>
              <a:rPr lang="en-US" sz="2400" dirty="0"/>
            </a:br>
            <a:r>
              <a:rPr lang="en-US" sz="2400" dirty="0"/>
              <a:t>procedures, one for each</a:t>
            </a:r>
            <a:br>
              <a:rPr lang="en-US" sz="2400" dirty="0"/>
            </a:br>
            <a:r>
              <a:rPr lang="en-US" sz="2400" dirty="0"/>
              <a:t>nonterminal.</a:t>
            </a:r>
          </a:p>
          <a:p>
            <a:r>
              <a:rPr lang="en-US" sz="2400" dirty="0"/>
              <a:t>Execution begins with the</a:t>
            </a:r>
            <a:br>
              <a:rPr lang="en-US" sz="2400" dirty="0"/>
            </a:br>
            <a:r>
              <a:rPr lang="en-US" sz="2400" dirty="0"/>
              <a:t>procedure for the start </a:t>
            </a:r>
            <a:br>
              <a:rPr lang="en-US" sz="2400" dirty="0"/>
            </a:br>
            <a:r>
              <a:rPr lang="en-US" sz="2400" dirty="0"/>
              <a:t>symbol, which halts and </a:t>
            </a:r>
            <a:br>
              <a:rPr lang="en-US" sz="2400" dirty="0"/>
            </a:br>
            <a:r>
              <a:rPr lang="en-US" sz="2400" dirty="0"/>
              <a:t>announces success if its </a:t>
            </a:r>
            <a:br>
              <a:rPr lang="en-US" sz="2400" dirty="0"/>
            </a:br>
            <a:r>
              <a:rPr lang="en-US" sz="2400" dirty="0"/>
              <a:t>procedure body scans the entire input string.</a:t>
            </a:r>
          </a:p>
          <a:p>
            <a:r>
              <a:rPr lang="en-US" sz="2400" dirty="0"/>
              <a:t>Pseudocode for a typical nonterminal appears in Fig. 4.13. Note that this pseudocode is nondeterministic, since it begins by choosing the A-production to apply in a manner that is not specified.</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11</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4372417" y="1469425"/>
            <a:ext cx="7740968" cy="3291840"/>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1409624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Recursive-Descent Parsing (</a:t>
            </a:r>
            <a:r>
              <a:rPr lang="en-US" dirty="0" err="1"/>
              <a:t>ctd</a:t>
            </a:r>
            <a:r>
              <a:rPr lang="en-US" dirty="0"/>
              <a:t>)</a:t>
            </a:r>
          </a:p>
        </p:txBody>
      </p:sp>
      <p:sp>
        <p:nvSpPr>
          <p:cNvPr id="3" name="Content Placeholder 2"/>
          <p:cNvSpPr>
            <a:spLocks noGrp="1"/>
          </p:cNvSpPr>
          <p:nvPr>
            <p:ph idx="1"/>
          </p:nvPr>
        </p:nvSpPr>
        <p:spPr>
          <a:xfrm>
            <a:off x="120076" y="1433940"/>
            <a:ext cx="11822542" cy="4964925"/>
          </a:xfrm>
        </p:spPr>
        <p:txBody>
          <a:bodyPr>
            <a:normAutofit lnSpcReduction="10000"/>
          </a:bodyPr>
          <a:lstStyle/>
          <a:p>
            <a:r>
              <a:rPr lang="en-US" sz="2400" dirty="0"/>
              <a:t>General recursive-descent may require backtracking; that is, it may require repeated scans over the input. However, backtracking is rarely needed to parse programming language constructs, so backtracking parsers are not seen frequently.</a:t>
            </a:r>
          </a:p>
          <a:p>
            <a:r>
              <a:rPr lang="en-US" sz="2400" dirty="0"/>
              <a:t>To allow backtracking, the code of Fig. 4.13 needs to be modified. First, we cannot choose a unique A-production at line (1), so we must try each of several productions in some order. Then, failure at line (7) is not ultimate failure, but suggests only that we need to return to line (1) and try another A-production.</a:t>
            </a:r>
          </a:p>
          <a:p>
            <a:r>
              <a:rPr lang="en-US" sz="2400" dirty="0"/>
              <a:t>Only if there are no more A-productions to </a:t>
            </a:r>
            <a:br>
              <a:rPr lang="en-US" sz="2400" dirty="0"/>
            </a:br>
            <a:r>
              <a:rPr lang="en-US" sz="2400" dirty="0"/>
              <a:t>try do we declare that an input error has </a:t>
            </a:r>
            <a:br>
              <a:rPr lang="en-US" sz="2400" dirty="0"/>
            </a:br>
            <a:r>
              <a:rPr lang="en-US" sz="2400" dirty="0"/>
              <a:t>been found.</a:t>
            </a:r>
          </a:p>
          <a:p>
            <a:r>
              <a:rPr lang="en-US" sz="2400" dirty="0"/>
              <a:t>In order to try another </a:t>
            </a:r>
            <a:br>
              <a:rPr lang="en-US" sz="2400" dirty="0"/>
            </a:br>
            <a:r>
              <a:rPr lang="en-US" sz="2400" dirty="0"/>
              <a:t>A-production, we need to be able to reset </a:t>
            </a:r>
            <a:br>
              <a:rPr lang="en-US" sz="2400" dirty="0"/>
            </a:br>
            <a:r>
              <a:rPr lang="en-US" sz="2400" dirty="0"/>
              <a:t>the input pointer to where it was when we </a:t>
            </a:r>
            <a:br>
              <a:rPr lang="en-US" sz="2400" dirty="0"/>
            </a:br>
            <a:r>
              <a:rPr lang="en-US" sz="2400" dirty="0"/>
              <a:t>first reached line (1).</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12</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6104241" y="3838545"/>
            <a:ext cx="6020753" cy="2560320"/>
          </a:xfrm>
          <a:prstGeom prst="rect">
            <a:avLst/>
          </a:prstGeom>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1687768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Recursive-Descent with Backtracking</a:t>
            </a:r>
          </a:p>
        </p:txBody>
      </p:sp>
      <p:sp>
        <p:nvSpPr>
          <p:cNvPr id="3" name="Content Placeholder 2"/>
          <p:cNvSpPr>
            <a:spLocks noGrp="1"/>
          </p:cNvSpPr>
          <p:nvPr>
            <p:ph idx="1"/>
          </p:nvPr>
        </p:nvSpPr>
        <p:spPr>
          <a:xfrm>
            <a:off x="120076" y="1433940"/>
            <a:ext cx="11822542" cy="4964925"/>
          </a:xfrm>
        </p:spPr>
        <p:txBody>
          <a:bodyPr>
            <a:normAutofit/>
          </a:bodyPr>
          <a:lstStyle/>
          <a:p>
            <a:r>
              <a:rPr lang="en-US" sz="2400" dirty="0"/>
              <a:t>To construct a parse tree top-down for the input string </a:t>
            </a:r>
            <a:r>
              <a:rPr lang="en-US" sz="2400" b="1" dirty="0"/>
              <a:t>w = cad</a:t>
            </a:r>
            <a:r>
              <a:rPr lang="en-US" sz="2400" dirty="0"/>
              <a:t>, </a:t>
            </a:r>
            <a:br>
              <a:rPr lang="en-US" sz="2400" dirty="0"/>
            </a:br>
            <a:r>
              <a:rPr lang="en-US" sz="2400" dirty="0"/>
              <a:t>begin with a tree consisting of a single node labeled S, and the </a:t>
            </a:r>
            <a:br>
              <a:rPr lang="en-US" sz="2400" dirty="0"/>
            </a:br>
            <a:r>
              <a:rPr lang="en-US" sz="2400" dirty="0"/>
              <a:t>input pointer pointing to c, the first symbol of w.</a:t>
            </a:r>
          </a:p>
          <a:p>
            <a:r>
              <a:rPr lang="en-US" sz="2400" dirty="0"/>
              <a:t>In (b) since terminal </a:t>
            </a:r>
            <a:r>
              <a:rPr lang="en-US" sz="2400" b="1" dirty="0"/>
              <a:t>b</a:t>
            </a:r>
            <a:r>
              <a:rPr lang="en-US" sz="2400" dirty="0"/>
              <a:t> does not match </a:t>
            </a:r>
            <a:r>
              <a:rPr lang="en-US" sz="2400" b="1" dirty="0"/>
              <a:t>d</a:t>
            </a:r>
            <a:r>
              <a:rPr lang="en-US" sz="2400" dirty="0"/>
              <a:t>, we report failure and go back to A to see whether there is another alternative for A that has not been tried, and that might produce a match.</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13</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5" name="Picture 4"/>
          <p:cNvPicPr>
            <a:picLocks noChangeAspect="1"/>
          </p:cNvPicPr>
          <p:nvPr/>
        </p:nvPicPr>
        <p:blipFill>
          <a:blip r:embed="rId2"/>
          <a:stretch>
            <a:fillRect/>
          </a:stretch>
        </p:blipFill>
        <p:spPr>
          <a:xfrm>
            <a:off x="8868930" y="1511649"/>
            <a:ext cx="2609850" cy="933450"/>
          </a:xfrm>
          <a:prstGeom prst="rect">
            <a:avLst/>
          </a:prstGeom>
        </p:spPr>
        <p:style>
          <a:lnRef idx="1">
            <a:schemeClr val="accent5"/>
          </a:lnRef>
          <a:fillRef idx="2">
            <a:schemeClr val="accent5"/>
          </a:fillRef>
          <a:effectRef idx="1">
            <a:schemeClr val="accent5"/>
          </a:effectRef>
          <a:fontRef idx="minor">
            <a:schemeClr val="dk1"/>
          </a:fontRef>
        </p:style>
      </p:pic>
      <p:pic>
        <p:nvPicPr>
          <p:cNvPr id="6" name="Picture 5"/>
          <p:cNvPicPr>
            <a:picLocks noChangeAspect="1"/>
          </p:cNvPicPr>
          <p:nvPr/>
        </p:nvPicPr>
        <p:blipFill>
          <a:blip r:embed="rId3"/>
          <a:stretch>
            <a:fillRect/>
          </a:stretch>
        </p:blipFill>
        <p:spPr>
          <a:xfrm>
            <a:off x="3387439" y="3445244"/>
            <a:ext cx="8686800" cy="2895600"/>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1511308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and FOLLOW</a:t>
            </a:r>
          </a:p>
        </p:txBody>
      </p:sp>
      <p:sp>
        <p:nvSpPr>
          <p:cNvPr id="3" name="Content Placeholder 2"/>
          <p:cNvSpPr>
            <a:spLocks noGrp="1"/>
          </p:cNvSpPr>
          <p:nvPr>
            <p:ph idx="1"/>
          </p:nvPr>
        </p:nvSpPr>
        <p:spPr>
          <a:xfrm>
            <a:off x="508000" y="1600200"/>
            <a:ext cx="11074400" cy="2902527"/>
          </a:xfrm>
        </p:spPr>
        <p:txBody>
          <a:bodyPr>
            <a:normAutofit/>
          </a:bodyPr>
          <a:lstStyle/>
          <a:p>
            <a:r>
              <a:rPr lang="en-US" sz="2400" dirty="0"/>
              <a:t>The construction of both top-down and bottom-up parsers is aided by two functions, FIRST and FOLLOW, associated with a grammar G.</a:t>
            </a:r>
          </a:p>
          <a:p>
            <a:r>
              <a:rPr lang="en-US" sz="2400" u="sng" dirty="0"/>
              <a:t>During top-down parsing, FIRST and FOLLOW allow us to choose which production to apply, based on the next input symbol</a:t>
            </a:r>
            <a:r>
              <a:rPr lang="en-US" sz="2400" dirty="0"/>
              <a:t>.</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14</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4622225" y="3693544"/>
            <a:ext cx="6134100" cy="2657475"/>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3505447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Computing FIRST</a:t>
            </a:r>
          </a:p>
        </p:txBody>
      </p:sp>
      <p:sp>
        <p:nvSpPr>
          <p:cNvPr id="3" name="Content Placeholder 2"/>
          <p:cNvSpPr>
            <a:spLocks noGrp="1"/>
          </p:cNvSpPr>
          <p:nvPr>
            <p:ph idx="1"/>
          </p:nvPr>
        </p:nvSpPr>
        <p:spPr>
          <a:xfrm>
            <a:off x="265575" y="1796464"/>
            <a:ext cx="11595501" cy="4121013"/>
          </a:xfrm>
        </p:spPr>
        <p:txBody>
          <a:bodyPr>
            <a:normAutofit/>
          </a:bodyPr>
          <a:lstStyle/>
          <a:p>
            <a:pPr marL="0" indent="0">
              <a:buNone/>
            </a:pPr>
            <a:r>
              <a:rPr lang="en-US" sz="2800" b="1" dirty="0"/>
              <a:t>To compute FIRST(X) for all grammar symbols X, apply the following rules until no more terminals or ε can be added to any FIRST set:</a:t>
            </a:r>
          </a:p>
          <a:p>
            <a:pPr marL="0" indent="0">
              <a:buNone/>
            </a:pPr>
            <a:endParaRPr lang="en-US" sz="2800" b="1" dirty="0"/>
          </a:p>
          <a:p>
            <a:pPr marL="914400" lvl="1" indent="-514350">
              <a:buFont typeface="+mj-lt"/>
              <a:buAutoNum type="arabicPeriod"/>
            </a:pPr>
            <a:r>
              <a:rPr lang="en-US" dirty="0"/>
              <a:t>Every first terminal derivable using productions of X.</a:t>
            </a:r>
          </a:p>
          <a:p>
            <a:pPr marL="914400" lvl="1" indent="-514350">
              <a:buFont typeface="+mj-lt"/>
              <a:buAutoNum type="arabicPeriod"/>
            </a:pPr>
            <a:r>
              <a:rPr lang="en-US" dirty="0"/>
              <a:t>If X </a:t>
            </a:r>
            <a:r>
              <a:rPr lang="en-US" dirty="0">
                <a:sym typeface="Wingdings" panose="05000000000000000000" pitchFamily="2" charset="2"/>
              </a:rPr>
              <a:t> </a:t>
            </a:r>
            <a:r>
              <a:rPr lang="en-US" dirty="0"/>
              <a:t>ε</a:t>
            </a:r>
            <a:r>
              <a:rPr lang="en-US" dirty="0">
                <a:sym typeface="Wingdings" panose="05000000000000000000" pitchFamily="2" charset="2"/>
              </a:rPr>
              <a:t> , then </a:t>
            </a:r>
            <a:r>
              <a:rPr lang="en-US" dirty="0"/>
              <a:t>ε is also in FIRST(X).</a:t>
            </a:r>
          </a:p>
          <a:p>
            <a:pPr marL="914400" lvl="1" indent="-514350">
              <a:buFont typeface="+mj-lt"/>
              <a:buAutoNum type="arabicPeriod"/>
            </a:pPr>
            <a:r>
              <a:rPr lang="en-US" dirty="0"/>
              <a:t>If X </a:t>
            </a:r>
            <a:r>
              <a:rPr lang="en-US" dirty="0">
                <a:sym typeface="Wingdings" panose="05000000000000000000" pitchFamily="2" charset="2"/>
              </a:rPr>
              <a:t> Y , and Y is a non-terminal, then FIRST(Y) will also be in FIRST(X).</a:t>
            </a:r>
          </a:p>
          <a:p>
            <a:pPr marL="914400" lvl="1" indent="-514350">
              <a:buFont typeface="+mj-lt"/>
              <a:buAutoNum type="arabicPeriod"/>
            </a:pPr>
            <a:r>
              <a:rPr lang="en-US" dirty="0">
                <a:sym typeface="Wingdings" panose="05000000000000000000" pitchFamily="2" charset="2"/>
              </a:rPr>
              <a:t>If X  Y</a:t>
            </a:r>
            <a:r>
              <a:rPr lang="en-US" baseline="-25000" dirty="0">
                <a:sym typeface="Wingdings" panose="05000000000000000000" pitchFamily="2" charset="2"/>
              </a:rPr>
              <a:t>1</a:t>
            </a:r>
            <a:r>
              <a:rPr lang="en-US" dirty="0">
                <a:sym typeface="Wingdings" panose="05000000000000000000" pitchFamily="2" charset="2"/>
              </a:rPr>
              <a:t>Y</a:t>
            </a:r>
            <a:r>
              <a:rPr lang="en-US" baseline="-25000" dirty="0">
                <a:sym typeface="Wingdings" panose="05000000000000000000" pitchFamily="2" charset="2"/>
              </a:rPr>
              <a:t>2</a:t>
            </a:r>
            <a:r>
              <a:rPr lang="en-US" dirty="0">
                <a:sym typeface="Wingdings" panose="05000000000000000000" pitchFamily="2" charset="2"/>
              </a:rPr>
              <a:t> , and Y</a:t>
            </a:r>
            <a:r>
              <a:rPr lang="en-US" baseline="-25000" dirty="0">
                <a:sym typeface="Wingdings" panose="05000000000000000000" pitchFamily="2" charset="2"/>
              </a:rPr>
              <a:t>1</a:t>
            </a:r>
            <a:r>
              <a:rPr lang="en-US" dirty="0">
                <a:sym typeface="Wingdings" panose="05000000000000000000" pitchFamily="2" charset="2"/>
              </a:rPr>
              <a:t>  </a:t>
            </a:r>
            <a:r>
              <a:rPr lang="en-US" dirty="0"/>
              <a:t>ε , then FIRST(Y</a:t>
            </a:r>
            <a:r>
              <a:rPr lang="en-US" baseline="-25000" dirty="0"/>
              <a:t>2</a:t>
            </a:r>
            <a:r>
              <a:rPr lang="en-US" dirty="0"/>
              <a:t>) will also be in FIRST(X).</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15</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spTree>
    <p:extLst>
      <p:ext uri="{BB962C8B-B14F-4D97-AF65-F5344CB8AC3E}">
        <p14:creationId xmlns:p14="http://schemas.microsoft.com/office/powerpoint/2010/main" val="1521517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 Example</a:t>
            </a:r>
          </a:p>
        </p:txBody>
      </p:sp>
      <p:sp>
        <p:nvSpPr>
          <p:cNvPr id="3" name="Content Placeholder 2"/>
          <p:cNvSpPr>
            <a:spLocks noGrp="1"/>
          </p:cNvSpPr>
          <p:nvPr>
            <p:ph idx="1"/>
          </p:nvPr>
        </p:nvSpPr>
        <p:spPr>
          <a:xfrm>
            <a:off x="151683" y="1417638"/>
            <a:ext cx="11074400" cy="810491"/>
          </a:xfrm>
        </p:spPr>
        <p:txBody>
          <a:bodyPr>
            <a:normAutofit/>
          </a:bodyPr>
          <a:lstStyle/>
          <a:p>
            <a:pPr marL="0" indent="0">
              <a:buNone/>
            </a:pPr>
            <a:r>
              <a:rPr lang="en-US" sz="2800" dirty="0"/>
              <a:t>Considering the given left-recursive grammar:</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16</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97843" y="3143700"/>
            <a:ext cx="9211628" cy="3121819"/>
          </a:xfrm>
          <a:prstGeom prst="rect">
            <a:avLst/>
          </a:prstGeom>
        </p:spPr>
      </p:pic>
      <p:pic>
        <p:nvPicPr>
          <p:cNvPr id="10" name="Picture 9"/>
          <p:cNvPicPr>
            <a:picLocks noChangeAspect="1"/>
          </p:cNvPicPr>
          <p:nvPr/>
        </p:nvPicPr>
        <p:blipFill>
          <a:blip r:embed="rId3"/>
          <a:stretch>
            <a:fillRect/>
          </a:stretch>
        </p:blipFill>
        <p:spPr>
          <a:xfrm>
            <a:off x="9280344" y="3297400"/>
            <a:ext cx="2850356" cy="1710214"/>
          </a:xfrm>
          <a:prstGeom prst="rect">
            <a:avLst/>
          </a:prstGeom>
          <a:ln/>
        </p:spPr>
        <p:style>
          <a:lnRef idx="1">
            <a:schemeClr val="accent2"/>
          </a:lnRef>
          <a:fillRef idx="2">
            <a:schemeClr val="accent2"/>
          </a:fillRef>
          <a:effectRef idx="1">
            <a:schemeClr val="accent2"/>
          </a:effectRef>
          <a:fontRef idx="minor">
            <a:schemeClr val="dk1"/>
          </a:fontRef>
        </p:style>
      </p:pic>
      <p:pic>
        <p:nvPicPr>
          <p:cNvPr id="11" name="Picture 10"/>
          <p:cNvPicPr>
            <a:picLocks noChangeAspect="1"/>
          </p:cNvPicPr>
          <p:nvPr/>
        </p:nvPicPr>
        <p:blipFill>
          <a:blip r:embed="rId4"/>
          <a:stretch>
            <a:fillRect/>
          </a:stretch>
        </p:blipFill>
        <p:spPr>
          <a:xfrm>
            <a:off x="8373002" y="1514623"/>
            <a:ext cx="3680460" cy="1594485"/>
          </a:xfrm>
          <a:prstGeom prst="rect">
            <a:avLst/>
          </a:prstGeom>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318308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Computing FOLLOW</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17</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sp>
        <p:nvSpPr>
          <p:cNvPr id="10" name="Content Placeholder 2"/>
          <p:cNvSpPr txBox="1">
            <a:spLocks/>
          </p:cNvSpPr>
          <p:nvPr/>
        </p:nvSpPr>
        <p:spPr>
          <a:xfrm>
            <a:off x="265575" y="1574393"/>
            <a:ext cx="11595501" cy="4669653"/>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000" b="1" dirty="0"/>
              <a:t>To compute FOLLOW(A) for all non-terminals A, apply the following rules until nothing can be added to any FOLLOW set:</a:t>
            </a:r>
          </a:p>
          <a:p>
            <a:pPr marL="0" indent="0">
              <a:buFont typeface="Arial" pitchFamily="34" charset="0"/>
              <a:buNone/>
            </a:pPr>
            <a:endParaRPr lang="en-US" sz="2800" b="1" dirty="0"/>
          </a:p>
          <a:p>
            <a:pPr marL="914400" lvl="1" indent="-514350">
              <a:buFont typeface="+mj-lt"/>
              <a:buAutoNum type="arabicPeriod"/>
            </a:pPr>
            <a:r>
              <a:rPr lang="en-US" dirty="0"/>
              <a:t>For FOLLOW(X), use productions that contain X in the body.</a:t>
            </a:r>
          </a:p>
          <a:p>
            <a:pPr marL="914400" lvl="1" indent="-514350">
              <a:buFont typeface="+mj-lt"/>
              <a:buAutoNum type="arabicPeriod"/>
            </a:pPr>
            <a:r>
              <a:rPr lang="en-US" dirty="0"/>
              <a:t>Place $ in FOLLOW(S), where S is the start symbol, and $ is the input right end marker.</a:t>
            </a:r>
          </a:p>
          <a:p>
            <a:pPr marL="914400" lvl="1" indent="-514350">
              <a:buFont typeface="+mj-lt"/>
              <a:buAutoNum type="arabicPeriod"/>
            </a:pPr>
            <a:r>
              <a:rPr lang="en-US" dirty="0"/>
              <a:t>If there is a production A </a:t>
            </a:r>
            <a:r>
              <a:rPr lang="en-US" dirty="0">
                <a:sym typeface="Wingdings" panose="05000000000000000000" pitchFamily="2" charset="2"/>
              </a:rPr>
              <a:t> WXY</a:t>
            </a:r>
            <a:r>
              <a:rPr lang="en-US" dirty="0"/>
              <a:t>, then everything in FIRST(Y) except ε is in FOLLOW(X). (Note: ε is not written in FOLLOW set)</a:t>
            </a:r>
          </a:p>
          <a:p>
            <a:pPr marL="914400" lvl="1" indent="-514350">
              <a:buFont typeface="+mj-lt"/>
              <a:buAutoNum type="arabicPeriod"/>
            </a:pPr>
            <a:r>
              <a:rPr lang="en-US" dirty="0"/>
              <a:t>If there is a production A </a:t>
            </a:r>
            <a:r>
              <a:rPr lang="en-US" dirty="0">
                <a:sym typeface="Wingdings" panose="05000000000000000000" pitchFamily="2" charset="2"/>
              </a:rPr>
              <a:t> WX</a:t>
            </a:r>
            <a:r>
              <a:rPr lang="en-US" dirty="0"/>
              <a:t>, or a production A </a:t>
            </a:r>
            <a:r>
              <a:rPr lang="en-US" dirty="0">
                <a:sym typeface="Wingdings" panose="05000000000000000000" pitchFamily="2" charset="2"/>
              </a:rPr>
              <a:t> WXY</a:t>
            </a:r>
            <a:r>
              <a:rPr lang="en-US" dirty="0"/>
              <a:t>, where FIRST(Y) contains ε, then look at the head of production, which is A, everything in FOLLOW(A) is in FOLLOW(X).</a:t>
            </a:r>
          </a:p>
        </p:txBody>
      </p:sp>
    </p:spTree>
    <p:extLst>
      <p:ext uri="{BB962C8B-B14F-4D97-AF65-F5344CB8AC3E}">
        <p14:creationId xmlns:p14="http://schemas.microsoft.com/office/powerpoint/2010/main" val="1347390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4699" y="1598320"/>
            <a:ext cx="9103043" cy="4940618"/>
          </a:xfrm>
          <a:prstGeom prst="rect">
            <a:avLst/>
          </a:prstGeom>
        </p:spPr>
      </p:pic>
      <p:sp>
        <p:nvSpPr>
          <p:cNvPr id="2" name="Title 1"/>
          <p:cNvSpPr>
            <a:spLocks noGrp="1"/>
          </p:cNvSpPr>
          <p:nvPr>
            <p:ph type="title"/>
          </p:nvPr>
        </p:nvSpPr>
        <p:spPr>
          <a:xfrm>
            <a:off x="578229" y="274638"/>
            <a:ext cx="8755008" cy="1143000"/>
          </a:xfrm>
        </p:spPr>
        <p:txBody>
          <a:bodyPr/>
          <a:lstStyle/>
          <a:p>
            <a:r>
              <a:rPr lang="en-US" dirty="0"/>
              <a:t>FOLLOW – Example</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18</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10" name="Picture 9"/>
          <p:cNvPicPr>
            <a:picLocks noChangeAspect="1"/>
          </p:cNvPicPr>
          <p:nvPr/>
        </p:nvPicPr>
        <p:blipFill>
          <a:blip r:embed="rId3"/>
          <a:stretch>
            <a:fillRect/>
          </a:stretch>
        </p:blipFill>
        <p:spPr>
          <a:xfrm>
            <a:off x="9280345" y="2571263"/>
            <a:ext cx="2850356" cy="1710214"/>
          </a:xfrm>
          <a:prstGeom prst="rect">
            <a:avLst/>
          </a:prstGeom>
          <a:ln/>
        </p:spPr>
        <p:style>
          <a:lnRef idx="1">
            <a:schemeClr val="accent2"/>
          </a:lnRef>
          <a:fillRef idx="2">
            <a:schemeClr val="accent2"/>
          </a:fillRef>
          <a:effectRef idx="1">
            <a:schemeClr val="accent2"/>
          </a:effectRef>
          <a:fontRef idx="minor">
            <a:schemeClr val="dk1"/>
          </a:fontRef>
        </p:style>
      </p:pic>
      <p:pic>
        <p:nvPicPr>
          <p:cNvPr id="12" name="Picture 11"/>
          <p:cNvPicPr>
            <a:picLocks noChangeAspect="1"/>
          </p:cNvPicPr>
          <p:nvPr/>
        </p:nvPicPr>
        <p:blipFill>
          <a:blip r:embed="rId4"/>
          <a:stretch>
            <a:fillRect/>
          </a:stretch>
        </p:blipFill>
        <p:spPr>
          <a:xfrm>
            <a:off x="8399896" y="22004"/>
            <a:ext cx="3680460" cy="1594485"/>
          </a:xfrm>
          <a:prstGeom prst="rect">
            <a:avLst/>
          </a:prstGeom>
        </p:spPr>
        <p:style>
          <a:lnRef idx="1">
            <a:schemeClr val="accent2"/>
          </a:lnRef>
          <a:fillRef idx="2">
            <a:schemeClr val="accent2"/>
          </a:fillRef>
          <a:effectRef idx="1">
            <a:schemeClr val="accent2"/>
          </a:effectRef>
          <a:fontRef idx="minor">
            <a:schemeClr val="dk1"/>
          </a:fontRef>
        </p:style>
      </p:pic>
    </p:spTree>
    <p:extLst>
      <p:ext uri="{BB962C8B-B14F-4D97-AF65-F5344CB8AC3E}">
        <p14:creationId xmlns:p14="http://schemas.microsoft.com/office/powerpoint/2010/main" val="3925306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and FOLLOW – Examples</a:t>
            </a:r>
          </a:p>
        </p:txBody>
      </p:sp>
      <p:sp>
        <p:nvSpPr>
          <p:cNvPr id="8" name="Slide Number Placeholder 7"/>
          <p:cNvSpPr>
            <a:spLocks noGrp="1"/>
          </p:cNvSpPr>
          <p:nvPr>
            <p:ph type="sldNum" sz="quarter" idx="12"/>
          </p:nvPr>
        </p:nvSpPr>
        <p:spPr/>
        <p:txBody>
          <a:bodyPr/>
          <a:lstStyle/>
          <a:p>
            <a:fld id="{3D7797CA-7415-49AC-BCED-E58EC2F42C7F}" type="slidenum">
              <a:rPr lang="en-US" smtClean="0"/>
              <a:pPr/>
              <a:t>19</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10" name="Picture 9"/>
          <p:cNvPicPr>
            <a:picLocks noChangeAspect="1"/>
          </p:cNvPicPr>
          <p:nvPr/>
        </p:nvPicPr>
        <p:blipFill>
          <a:blip r:embed="rId2"/>
          <a:stretch>
            <a:fillRect/>
          </a:stretch>
        </p:blipFill>
        <p:spPr>
          <a:xfrm>
            <a:off x="8373002" y="1514623"/>
            <a:ext cx="3680460" cy="1594485"/>
          </a:xfrm>
          <a:prstGeom prst="rect">
            <a:avLst/>
          </a:prstGeom>
        </p:spPr>
        <p:style>
          <a:lnRef idx="1">
            <a:schemeClr val="accent2"/>
          </a:lnRef>
          <a:fillRef idx="2">
            <a:schemeClr val="accent2"/>
          </a:fillRef>
          <a:effectRef idx="1">
            <a:schemeClr val="accent2"/>
          </a:effectRef>
          <a:fontRef idx="minor">
            <a:schemeClr val="dk1"/>
          </a:fontRef>
        </p:style>
      </p:pic>
      <p:pic>
        <p:nvPicPr>
          <p:cNvPr id="3" name="Picture 2"/>
          <p:cNvPicPr>
            <a:picLocks noChangeAspect="1"/>
          </p:cNvPicPr>
          <p:nvPr/>
        </p:nvPicPr>
        <p:blipFill>
          <a:blip r:embed="rId3"/>
          <a:stretch>
            <a:fillRect/>
          </a:stretch>
        </p:blipFill>
        <p:spPr>
          <a:xfrm>
            <a:off x="89124" y="1479090"/>
            <a:ext cx="7572375" cy="2724150"/>
          </a:xfrm>
          <a:prstGeom prst="rect">
            <a:avLst/>
          </a:prstGeom>
        </p:spPr>
      </p:pic>
      <p:pic>
        <p:nvPicPr>
          <p:cNvPr id="5" name="Picture 4"/>
          <p:cNvPicPr>
            <a:picLocks noChangeAspect="1"/>
          </p:cNvPicPr>
          <p:nvPr/>
        </p:nvPicPr>
        <p:blipFill>
          <a:blip r:embed="rId4"/>
          <a:stretch>
            <a:fillRect/>
          </a:stretch>
        </p:blipFill>
        <p:spPr>
          <a:xfrm>
            <a:off x="5211810" y="4283670"/>
            <a:ext cx="6915150" cy="2105025"/>
          </a:xfrm>
          <a:prstGeom prst="rect">
            <a:avLst/>
          </a:prstGeom>
        </p:spPr>
      </p:pic>
      <p:pic>
        <p:nvPicPr>
          <p:cNvPr id="6" name="Picture 5"/>
          <p:cNvPicPr>
            <a:picLocks noChangeAspect="1"/>
          </p:cNvPicPr>
          <p:nvPr/>
        </p:nvPicPr>
        <p:blipFill>
          <a:blip r:embed="rId5"/>
          <a:stretch>
            <a:fillRect/>
          </a:stretch>
        </p:blipFill>
        <p:spPr>
          <a:xfrm>
            <a:off x="137272" y="1514623"/>
            <a:ext cx="7428571" cy="2571429"/>
          </a:xfrm>
          <a:prstGeom prst="rect">
            <a:avLst/>
          </a:prstGeom>
        </p:spPr>
        <p:style>
          <a:lnRef idx="1">
            <a:schemeClr val="accent5"/>
          </a:lnRef>
          <a:fillRef idx="2">
            <a:schemeClr val="accent5"/>
          </a:fillRef>
          <a:effectRef idx="1">
            <a:schemeClr val="accent5"/>
          </a:effectRef>
          <a:fontRef idx="minor">
            <a:schemeClr val="dk1"/>
          </a:fontRef>
        </p:style>
      </p:pic>
      <p:pic>
        <p:nvPicPr>
          <p:cNvPr id="4" name="Picture 3"/>
          <p:cNvPicPr>
            <a:picLocks noChangeAspect="1"/>
          </p:cNvPicPr>
          <p:nvPr/>
        </p:nvPicPr>
        <p:blipFill>
          <a:blip r:embed="rId6"/>
          <a:stretch>
            <a:fillRect/>
          </a:stretch>
        </p:blipFill>
        <p:spPr>
          <a:xfrm>
            <a:off x="5243938" y="4326792"/>
            <a:ext cx="6809524" cy="1980952"/>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2078574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LL(1) Grammars</a:t>
            </a:r>
          </a:p>
        </p:txBody>
      </p:sp>
      <p:sp>
        <p:nvSpPr>
          <p:cNvPr id="3" name="Content Placeholder 2"/>
          <p:cNvSpPr>
            <a:spLocks noGrp="1"/>
          </p:cNvSpPr>
          <p:nvPr>
            <p:ph idx="1"/>
          </p:nvPr>
        </p:nvSpPr>
        <p:spPr>
          <a:xfrm>
            <a:off x="508000" y="1600200"/>
            <a:ext cx="11074400" cy="4716194"/>
          </a:xfrm>
        </p:spPr>
        <p:txBody>
          <a:bodyPr>
            <a:normAutofit/>
          </a:bodyPr>
          <a:lstStyle/>
          <a:p>
            <a:r>
              <a:rPr lang="en-US" sz="2800" dirty="0"/>
              <a:t>Predictive parsers, that is, recursive-descent parsers needing no backtracking, can be constructed for a class of grammars called LL(1).</a:t>
            </a:r>
          </a:p>
          <a:p>
            <a:r>
              <a:rPr lang="en-US" sz="2800" dirty="0"/>
              <a:t>The first "L" in LL(1) stands for scanning the input from left to right.</a:t>
            </a:r>
          </a:p>
          <a:p>
            <a:r>
              <a:rPr lang="en-US" sz="2800" dirty="0"/>
              <a:t>The second "L" for producing a leftmost derivation.</a:t>
            </a:r>
          </a:p>
          <a:p>
            <a:r>
              <a:rPr lang="en-US" sz="2800" dirty="0"/>
              <a:t>The "1" for using one input symbol of </a:t>
            </a:r>
            <a:r>
              <a:rPr lang="en-US" sz="2800" dirty="0" err="1"/>
              <a:t>lookahead</a:t>
            </a:r>
            <a:r>
              <a:rPr lang="en-US" sz="2800" dirty="0"/>
              <a:t> at each step to make parsing action decisions.</a:t>
            </a:r>
          </a:p>
          <a:p>
            <a:r>
              <a:rPr lang="en-US" sz="2800" dirty="0"/>
              <a:t>The class of LL(1) grammars is rich enough to cover most programming constructs, although care is needed in writing a suitable grammar for the source language. For example, no left-recursive or ambiguous grammar can be in LL(1).</a:t>
            </a:r>
          </a:p>
        </p:txBody>
      </p:sp>
      <p:sp>
        <p:nvSpPr>
          <p:cNvPr id="8" name="Slide Number Placeholder 7"/>
          <p:cNvSpPr>
            <a:spLocks noGrp="1"/>
          </p:cNvSpPr>
          <p:nvPr>
            <p:ph type="sldNum" sz="quarter" idx="12"/>
          </p:nvPr>
        </p:nvSpPr>
        <p:spPr/>
        <p:txBody>
          <a:bodyPr/>
          <a:lstStyle/>
          <a:p>
            <a:fld id="{3D7797CA-7415-49AC-BCED-E58EC2F42C7F}" type="slidenum">
              <a:rPr lang="en-US" smtClean="0"/>
              <a:pPr/>
              <a:t>20</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spTree>
    <p:extLst>
      <p:ext uri="{BB962C8B-B14F-4D97-AF65-F5344CB8AC3E}">
        <p14:creationId xmlns:p14="http://schemas.microsoft.com/office/powerpoint/2010/main" val="1540748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LL(1) Grammars (</a:t>
            </a:r>
            <a:r>
              <a:rPr lang="en-US" dirty="0" err="1"/>
              <a:t>ctd</a:t>
            </a:r>
            <a:r>
              <a:rPr lang="en-US" dirty="0"/>
              <a:t>)</a:t>
            </a:r>
          </a:p>
        </p:txBody>
      </p:sp>
      <p:sp>
        <p:nvSpPr>
          <p:cNvPr id="8" name="Slide Number Placeholder 7"/>
          <p:cNvSpPr>
            <a:spLocks noGrp="1"/>
          </p:cNvSpPr>
          <p:nvPr>
            <p:ph type="sldNum" sz="quarter" idx="12"/>
          </p:nvPr>
        </p:nvSpPr>
        <p:spPr/>
        <p:txBody>
          <a:bodyPr/>
          <a:lstStyle/>
          <a:p>
            <a:fld id="{3D7797CA-7415-49AC-BCED-E58EC2F42C7F}" type="slidenum">
              <a:rPr lang="en-US" smtClean="0"/>
              <a:pPr/>
              <a:t>21</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5" name="Picture 4"/>
          <p:cNvPicPr>
            <a:picLocks noChangeAspect="1"/>
          </p:cNvPicPr>
          <p:nvPr/>
        </p:nvPicPr>
        <p:blipFill>
          <a:blip r:embed="rId2"/>
          <a:stretch>
            <a:fillRect/>
          </a:stretch>
        </p:blipFill>
        <p:spPr>
          <a:xfrm>
            <a:off x="1128712" y="1728787"/>
            <a:ext cx="9934575" cy="3400425"/>
          </a:xfrm>
          <a:prstGeom prst="rect">
            <a:avLst/>
          </a:prstGeom>
        </p:spPr>
      </p:pic>
    </p:spTree>
    <p:extLst>
      <p:ext uri="{BB962C8B-B14F-4D97-AF65-F5344CB8AC3E}">
        <p14:creationId xmlns:p14="http://schemas.microsoft.com/office/powerpoint/2010/main" val="85782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Parsing Table</a:t>
            </a:r>
          </a:p>
        </p:txBody>
      </p:sp>
      <p:sp>
        <p:nvSpPr>
          <p:cNvPr id="8" name="Slide Number Placeholder 7"/>
          <p:cNvSpPr>
            <a:spLocks noGrp="1"/>
          </p:cNvSpPr>
          <p:nvPr>
            <p:ph type="sldNum" sz="quarter" idx="12"/>
          </p:nvPr>
        </p:nvSpPr>
        <p:spPr/>
        <p:txBody>
          <a:bodyPr/>
          <a:lstStyle/>
          <a:p>
            <a:fld id="{3D7797CA-7415-49AC-BCED-E58EC2F42C7F}" type="slidenum">
              <a:rPr lang="en-US" smtClean="0"/>
              <a:pPr/>
              <a:t>22</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4" name="Picture 3"/>
          <p:cNvPicPr>
            <a:picLocks noChangeAspect="1"/>
          </p:cNvPicPr>
          <p:nvPr/>
        </p:nvPicPr>
        <p:blipFill>
          <a:blip r:embed="rId2"/>
          <a:stretch>
            <a:fillRect/>
          </a:stretch>
        </p:blipFill>
        <p:spPr>
          <a:xfrm>
            <a:off x="885825" y="1593057"/>
            <a:ext cx="10420350" cy="4724400"/>
          </a:xfrm>
          <a:prstGeom prst="rect">
            <a:avLst/>
          </a:prstGeom>
        </p:spPr>
      </p:pic>
    </p:spTree>
    <p:extLst>
      <p:ext uri="{BB962C8B-B14F-4D97-AF65-F5344CB8AC3E}">
        <p14:creationId xmlns:p14="http://schemas.microsoft.com/office/powerpoint/2010/main" val="119653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Parsing Table – Example 1</a:t>
            </a:r>
          </a:p>
        </p:txBody>
      </p:sp>
      <p:sp>
        <p:nvSpPr>
          <p:cNvPr id="8" name="Slide Number Placeholder 7"/>
          <p:cNvSpPr>
            <a:spLocks noGrp="1"/>
          </p:cNvSpPr>
          <p:nvPr>
            <p:ph type="sldNum" sz="quarter" idx="12"/>
          </p:nvPr>
        </p:nvSpPr>
        <p:spPr/>
        <p:txBody>
          <a:bodyPr/>
          <a:lstStyle/>
          <a:p>
            <a:fld id="{3D7797CA-7415-49AC-BCED-E58EC2F42C7F}" type="slidenum">
              <a:rPr lang="en-US" smtClean="0"/>
              <a:pPr/>
              <a:t>23</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10" name="Picture 9"/>
          <p:cNvPicPr>
            <a:picLocks noChangeAspect="1"/>
          </p:cNvPicPr>
          <p:nvPr/>
        </p:nvPicPr>
        <p:blipFill>
          <a:blip r:embed="rId2"/>
          <a:stretch>
            <a:fillRect/>
          </a:stretch>
        </p:blipFill>
        <p:spPr>
          <a:xfrm>
            <a:off x="8476779" y="1441715"/>
            <a:ext cx="2850356" cy="1710214"/>
          </a:xfrm>
          <a:prstGeom prst="rect">
            <a:avLst/>
          </a:prstGeom>
          <a:ln/>
        </p:spPr>
        <p:style>
          <a:lnRef idx="1">
            <a:schemeClr val="accent2"/>
          </a:lnRef>
          <a:fillRef idx="2">
            <a:schemeClr val="accent2"/>
          </a:fillRef>
          <a:effectRef idx="1">
            <a:schemeClr val="accent2"/>
          </a:effectRef>
          <a:fontRef idx="minor">
            <a:schemeClr val="dk1"/>
          </a:fontRef>
        </p:style>
      </p:pic>
      <p:pic>
        <p:nvPicPr>
          <p:cNvPr id="11" name="Picture 10"/>
          <p:cNvPicPr>
            <a:picLocks noChangeAspect="1"/>
          </p:cNvPicPr>
          <p:nvPr/>
        </p:nvPicPr>
        <p:blipFill>
          <a:blip r:embed="rId3"/>
          <a:stretch>
            <a:fillRect/>
          </a:stretch>
        </p:blipFill>
        <p:spPr>
          <a:xfrm>
            <a:off x="3490073" y="1459439"/>
            <a:ext cx="4828571" cy="1671429"/>
          </a:xfrm>
          <a:prstGeom prst="rect">
            <a:avLst/>
          </a:prstGeom>
        </p:spPr>
        <p:style>
          <a:lnRef idx="1">
            <a:schemeClr val="accent2"/>
          </a:lnRef>
          <a:fillRef idx="2">
            <a:schemeClr val="accent2"/>
          </a:fillRef>
          <a:effectRef idx="1">
            <a:schemeClr val="accent2"/>
          </a:effectRef>
          <a:fontRef idx="minor">
            <a:schemeClr val="dk1"/>
          </a:fontRef>
        </p:style>
      </p:pic>
      <p:pic>
        <p:nvPicPr>
          <p:cNvPr id="4" name="Picture 3"/>
          <p:cNvPicPr>
            <a:picLocks noChangeAspect="1"/>
          </p:cNvPicPr>
          <p:nvPr/>
        </p:nvPicPr>
        <p:blipFill>
          <a:blip r:embed="rId4"/>
          <a:stretch>
            <a:fillRect/>
          </a:stretch>
        </p:blipFill>
        <p:spPr>
          <a:xfrm>
            <a:off x="621844" y="3197955"/>
            <a:ext cx="9772650" cy="3257550"/>
          </a:xfrm>
          <a:prstGeom prst="rect">
            <a:avLst/>
          </a:prstGeom>
        </p:spPr>
      </p:pic>
      <p:pic>
        <p:nvPicPr>
          <p:cNvPr id="3" name="Picture 2"/>
          <p:cNvPicPr>
            <a:picLocks noChangeAspect="1"/>
          </p:cNvPicPr>
          <p:nvPr/>
        </p:nvPicPr>
        <p:blipFill>
          <a:blip r:embed="rId5"/>
          <a:stretch>
            <a:fillRect/>
          </a:stretch>
        </p:blipFill>
        <p:spPr>
          <a:xfrm>
            <a:off x="675835" y="3238067"/>
            <a:ext cx="9648825" cy="3152775"/>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76954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Parsing Table – Example 2</a:t>
            </a:r>
          </a:p>
        </p:txBody>
      </p:sp>
      <p:sp>
        <p:nvSpPr>
          <p:cNvPr id="8" name="Slide Number Placeholder 7"/>
          <p:cNvSpPr>
            <a:spLocks noGrp="1"/>
          </p:cNvSpPr>
          <p:nvPr>
            <p:ph type="sldNum" sz="quarter" idx="12"/>
          </p:nvPr>
        </p:nvSpPr>
        <p:spPr/>
        <p:txBody>
          <a:bodyPr/>
          <a:lstStyle/>
          <a:p>
            <a:fld id="{3D7797CA-7415-49AC-BCED-E58EC2F42C7F}" type="slidenum">
              <a:rPr lang="en-US" smtClean="0"/>
              <a:pPr/>
              <a:t>24</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3" name="Picture 2"/>
          <p:cNvPicPr>
            <a:picLocks noChangeAspect="1"/>
          </p:cNvPicPr>
          <p:nvPr/>
        </p:nvPicPr>
        <p:blipFill>
          <a:blip r:embed="rId2"/>
          <a:stretch>
            <a:fillRect/>
          </a:stretch>
        </p:blipFill>
        <p:spPr>
          <a:xfrm>
            <a:off x="7254689" y="1487706"/>
            <a:ext cx="4648200" cy="1552575"/>
          </a:xfrm>
          <a:prstGeom prst="rect">
            <a:avLst/>
          </a:prstGeom>
        </p:spPr>
      </p:pic>
      <p:pic>
        <p:nvPicPr>
          <p:cNvPr id="4" name="Picture 3"/>
          <p:cNvPicPr>
            <a:picLocks noChangeAspect="1"/>
          </p:cNvPicPr>
          <p:nvPr/>
        </p:nvPicPr>
        <p:blipFill>
          <a:blip r:embed="rId3"/>
          <a:stretch>
            <a:fillRect/>
          </a:stretch>
        </p:blipFill>
        <p:spPr>
          <a:xfrm>
            <a:off x="1246550" y="3293477"/>
            <a:ext cx="9725025" cy="2857500"/>
          </a:xfrm>
          <a:prstGeom prst="rect">
            <a:avLst/>
          </a:prstGeom>
        </p:spPr>
      </p:pic>
      <p:pic>
        <p:nvPicPr>
          <p:cNvPr id="5" name="Picture 4"/>
          <p:cNvPicPr>
            <a:picLocks noChangeAspect="1"/>
          </p:cNvPicPr>
          <p:nvPr/>
        </p:nvPicPr>
        <p:blipFill>
          <a:blip r:embed="rId4"/>
          <a:stretch>
            <a:fillRect/>
          </a:stretch>
        </p:blipFill>
        <p:spPr>
          <a:xfrm>
            <a:off x="1286715" y="3325502"/>
            <a:ext cx="9591675" cy="2743200"/>
          </a:xfrm>
          <a:prstGeom prst="rect">
            <a:avLst/>
          </a:prstGeom>
        </p:spPr>
        <p:style>
          <a:lnRef idx="1">
            <a:schemeClr val="accent5"/>
          </a:lnRef>
          <a:fillRef idx="2">
            <a:schemeClr val="accent5"/>
          </a:fillRef>
          <a:effectRef idx="1">
            <a:schemeClr val="accent5"/>
          </a:effectRef>
          <a:fontRef idx="minor">
            <a:schemeClr val="dk1"/>
          </a:fontRef>
        </p:style>
      </p:pic>
    </p:spTree>
    <p:extLst>
      <p:ext uri="{BB962C8B-B14F-4D97-AF65-F5344CB8AC3E}">
        <p14:creationId xmlns:p14="http://schemas.microsoft.com/office/powerpoint/2010/main" val="1512753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Parsing Process</a:t>
            </a:r>
          </a:p>
        </p:txBody>
      </p:sp>
      <p:sp>
        <p:nvSpPr>
          <p:cNvPr id="8" name="Slide Number Placeholder 7"/>
          <p:cNvSpPr>
            <a:spLocks noGrp="1"/>
          </p:cNvSpPr>
          <p:nvPr>
            <p:ph type="sldNum" sz="quarter" idx="12"/>
          </p:nvPr>
        </p:nvSpPr>
        <p:spPr/>
        <p:txBody>
          <a:bodyPr/>
          <a:lstStyle/>
          <a:p>
            <a:fld id="{3D7797CA-7415-49AC-BCED-E58EC2F42C7F}" type="slidenum">
              <a:rPr lang="en-US" smtClean="0"/>
              <a:pPr/>
              <a:t>25</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6" name="Picture 5"/>
          <p:cNvPicPr>
            <a:picLocks noChangeAspect="1"/>
          </p:cNvPicPr>
          <p:nvPr/>
        </p:nvPicPr>
        <p:blipFill>
          <a:blip r:embed="rId2"/>
          <a:stretch>
            <a:fillRect/>
          </a:stretch>
        </p:blipFill>
        <p:spPr>
          <a:xfrm>
            <a:off x="2184866" y="1764507"/>
            <a:ext cx="7553325" cy="4381500"/>
          </a:xfrm>
          <a:prstGeom prst="rect">
            <a:avLst/>
          </a:prstGeom>
        </p:spPr>
      </p:pic>
    </p:spTree>
    <p:extLst>
      <p:ext uri="{BB962C8B-B14F-4D97-AF65-F5344CB8AC3E}">
        <p14:creationId xmlns:p14="http://schemas.microsoft.com/office/powerpoint/2010/main" val="5121401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Predictive Parsing Process (</a:t>
            </a:r>
            <a:r>
              <a:rPr lang="en-US" dirty="0" err="1"/>
              <a:t>ctd</a:t>
            </a:r>
            <a:r>
              <a:rPr lang="en-US" dirty="0"/>
              <a:t>)</a:t>
            </a:r>
          </a:p>
        </p:txBody>
      </p:sp>
      <p:sp>
        <p:nvSpPr>
          <p:cNvPr id="8" name="Slide Number Placeholder 7"/>
          <p:cNvSpPr>
            <a:spLocks noGrp="1"/>
          </p:cNvSpPr>
          <p:nvPr>
            <p:ph type="sldNum" sz="quarter" idx="12"/>
          </p:nvPr>
        </p:nvSpPr>
        <p:spPr/>
        <p:txBody>
          <a:bodyPr/>
          <a:lstStyle/>
          <a:p>
            <a:fld id="{3D7797CA-7415-49AC-BCED-E58EC2F42C7F}" type="slidenum">
              <a:rPr lang="en-US" smtClean="0"/>
              <a:pPr/>
              <a:t>26</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pic>
        <p:nvPicPr>
          <p:cNvPr id="3" name="Picture 2"/>
          <p:cNvPicPr>
            <a:picLocks noChangeAspect="1"/>
          </p:cNvPicPr>
          <p:nvPr/>
        </p:nvPicPr>
        <p:blipFill>
          <a:blip r:embed="rId2"/>
          <a:stretch>
            <a:fillRect/>
          </a:stretch>
        </p:blipFill>
        <p:spPr>
          <a:xfrm>
            <a:off x="1510286" y="1475982"/>
            <a:ext cx="9171428" cy="4904762"/>
          </a:xfrm>
          <a:prstGeom prst="rect">
            <a:avLst/>
          </a:prstGeom>
        </p:spPr>
      </p:pic>
    </p:spTree>
    <p:extLst>
      <p:ext uri="{BB962C8B-B14F-4D97-AF65-F5344CB8AC3E}">
        <p14:creationId xmlns:p14="http://schemas.microsoft.com/office/powerpoint/2010/main" val="5864434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Questions</a:t>
            </a:r>
          </a:p>
        </p:txBody>
      </p:sp>
      <p:sp>
        <p:nvSpPr>
          <p:cNvPr id="3" name="Content Placeholder 2"/>
          <p:cNvSpPr>
            <a:spLocks noGrp="1"/>
          </p:cNvSpPr>
          <p:nvPr>
            <p:ph idx="1"/>
          </p:nvPr>
        </p:nvSpPr>
        <p:spPr>
          <a:xfrm>
            <a:off x="323011" y="1556060"/>
            <a:ext cx="11511939" cy="4753302"/>
          </a:xfrm>
        </p:spPr>
        <p:txBody>
          <a:bodyPr>
            <a:noAutofit/>
          </a:bodyPr>
          <a:lstStyle/>
          <a:p>
            <a:pPr marL="457200" indent="-457200">
              <a:buFont typeface="+mj-lt"/>
              <a:buAutoNum type="arabicPeriod"/>
            </a:pPr>
            <a:r>
              <a:rPr lang="en-US" sz="2400" dirty="0"/>
              <a:t>Name the three transformation techniques used to prepare a grammar for Top-down parsing?</a:t>
            </a:r>
          </a:p>
          <a:p>
            <a:pPr marL="457200" indent="-457200">
              <a:buFont typeface="+mj-lt"/>
              <a:buAutoNum type="arabicPeriod"/>
            </a:pPr>
            <a:r>
              <a:rPr lang="en-US" sz="2400" dirty="0"/>
              <a:t>After applying all three transformations, what class of grammar the resulting grammar belongs to?</a:t>
            </a:r>
          </a:p>
          <a:p>
            <a:pPr marL="457200" indent="-457200">
              <a:buFont typeface="+mj-lt"/>
              <a:buAutoNum type="arabicPeriod"/>
            </a:pPr>
            <a:r>
              <a:rPr lang="en-US" sz="2400" dirty="0"/>
              <a:t>Which type of derivation technique utilized in Top-down parsing?</a:t>
            </a:r>
          </a:p>
          <a:p>
            <a:pPr marL="457200" indent="-457200">
              <a:buFont typeface="+mj-lt"/>
              <a:buAutoNum type="arabicPeriod"/>
            </a:pPr>
            <a:r>
              <a:rPr lang="en-US" sz="2400" dirty="0"/>
              <a:t>How is Predictive Parsing related to Recursive-descent Parsing?</a:t>
            </a:r>
          </a:p>
          <a:p>
            <a:pPr marL="457200" indent="-457200">
              <a:buFont typeface="+mj-lt"/>
              <a:buAutoNum type="arabicPeriod"/>
            </a:pPr>
            <a:r>
              <a:rPr lang="en-US" sz="2400" dirty="0"/>
              <a:t>Why is Predictive Parsing Table important?</a:t>
            </a:r>
          </a:p>
          <a:p>
            <a:pPr marL="457200" indent="-457200">
              <a:buFont typeface="+mj-lt"/>
              <a:buAutoNum type="arabicPeriod"/>
            </a:pPr>
            <a:r>
              <a:rPr lang="en-US" sz="2400" dirty="0"/>
              <a:t>If there are more than one entries in a single cell of the predictive parsing table then what does this indicate?</a:t>
            </a:r>
          </a:p>
          <a:p>
            <a:pPr marL="457200" indent="-457200">
              <a:buFont typeface="+mj-lt"/>
              <a:buAutoNum type="arabicPeriod"/>
            </a:pPr>
            <a:r>
              <a:rPr lang="en-US" sz="2400" dirty="0"/>
              <a:t>What notation is used to indicate the end of input?</a:t>
            </a:r>
          </a:p>
          <a:p>
            <a:pPr marL="457200" indent="-457200">
              <a:buFont typeface="+mj-lt"/>
              <a:buAutoNum type="arabicPeriod"/>
            </a:pPr>
            <a:r>
              <a:rPr lang="en-US" sz="2400" dirty="0"/>
              <a:t>What notation is used to indicate the bottom of the stack?</a:t>
            </a:r>
          </a:p>
          <a:p>
            <a:pPr marL="457200" indent="-457200">
              <a:buFont typeface="+mj-lt"/>
              <a:buAutoNum type="arabicPeriod"/>
            </a:pPr>
            <a:endParaRPr lang="en-US" sz="2400" dirty="0"/>
          </a:p>
          <a:p>
            <a:pPr marL="457200" indent="-457200">
              <a:buFont typeface="+mj-lt"/>
              <a:buAutoNum type="arabicPeriod"/>
            </a:pPr>
            <a:endParaRPr lang="en-US" sz="2400" dirty="0"/>
          </a:p>
          <a:p>
            <a:pPr marL="457200" indent="-457200">
              <a:buFont typeface="+mj-lt"/>
              <a:buAutoNum type="arabicPeriod"/>
            </a:pPr>
            <a:endParaRPr lang="en-US" sz="2400" dirty="0"/>
          </a:p>
        </p:txBody>
      </p:sp>
      <p:sp>
        <p:nvSpPr>
          <p:cNvPr id="8" name="Slide Number Placeholder 7"/>
          <p:cNvSpPr>
            <a:spLocks noGrp="1"/>
          </p:cNvSpPr>
          <p:nvPr>
            <p:ph type="sldNum" sz="quarter" idx="12"/>
          </p:nvPr>
        </p:nvSpPr>
        <p:spPr/>
        <p:txBody>
          <a:bodyPr/>
          <a:lstStyle/>
          <a:p>
            <a:fld id="{3D7797CA-7415-49AC-BCED-E58EC2F42C7F}" type="slidenum">
              <a:rPr lang="en-US" smtClean="0"/>
              <a:pPr/>
              <a:t>27</a:t>
            </a:fld>
            <a:endParaRPr lang="en-US"/>
          </a:p>
        </p:txBody>
      </p:sp>
      <p:sp>
        <p:nvSpPr>
          <p:cNvPr id="9" name="Footer Placeholder 8"/>
          <p:cNvSpPr>
            <a:spLocks noGrp="1"/>
          </p:cNvSpPr>
          <p:nvPr>
            <p:ph type="ftr" sz="quarter" idx="11"/>
          </p:nvPr>
        </p:nvSpPr>
        <p:spPr/>
        <p:txBody>
          <a:bodyPr/>
          <a:lstStyle/>
          <a:p>
            <a:r>
              <a:rPr lang="en-US" dirty="0"/>
              <a:t>Compiler Construction</a:t>
            </a:r>
          </a:p>
          <a:p>
            <a:endParaRPr lang="en-US" dirty="0"/>
          </a:p>
        </p:txBody>
      </p:sp>
      <p:sp>
        <p:nvSpPr>
          <p:cNvPr id="7" name="Date Placeholder 7"/>
          <p:cNvSpPr txBox="1">
            <a:spLocks/>
          </p:cNvSpPr>
          <p:nvPr/>
        </p:nvSpPr>
        <p:spPr>
          <a:xfrm>
            <a:off x="508000" y="6492876"/>
            <a:ext cx="2844800" cy="365125"/>
          </a:xfrm>
          <a:prstGeom prst="rect">
            <a:avLst/>
          </a:prstGeom>
        </p:spPr>
        <p:txBody>
          <a:bodyPr/>
          <a:lstStyle>
            <a:defPPr>
              <a:defRPr lang="en-US"/>
            </a:defPPr>
            <a:lvl1pPr marL="0" algn="l" defTabSz="914400" rtl="0" eaLnBrk="1" latinLnBrk="0" hangingPunct="1">
              <a:defRPr sz="1200" kern="1200">
                <a:solidFill>
                  <a:schemeClr val="bg2">
                    <a:lumMod val="2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EEECE1">
                    <a:lumMod val="25000"/>
                  </a:srgbClr>
                </a:solidFill>
                <a:latin typeface="Calibri"/>
              </a:rPr>
              <a:t>Khawaja  2025</a:t>
            </a:r>
          </a:p>
        </p:txBody>
      </p:sp>
    </p:spTree>
    <p:extLst>
      <p:ext uri="{BB962C8B-B14F-4D97-AF65-F5344CB8AC3E}">
        <p14:creationId xmlns:p14="http://schemas.microsoft.com/office/powerpoint/2010/main" val="796771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7151</TotalTime>
  <Words>1758</Words>
  <Application>Microsoft Office PowerPoint</Application>
  <PresentationFormat>Widescreen</PresentationFormat>
  <Paragraphs>183</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Wingdings</vt:lpstr>
      <vt:lpstr>1_Office Theme</vt:lpstr>
      <vt:lpstr>PowerPoint Presentation</vt:lpstr>
      <vt:lpstr>Elimination of Left Recursion</vt:lpstr>
      <vt:lpstr>Elimination of Left Recursion - Example</vt:lpstr>
      <vt:lpstr>Elimination of Left Recursion (ctd)</vt:lpstr>
      <vt:lpstr>Applying Left Factoring</vt:lpstr>
      <vt:lpstr>Applying Left Factoring (ctd)</vt:lpstr>
      <vt:lpstr>Top-Down Parsing</vt:lpstr>
      <vt:lpstr>Top-Down Parsing (ctd)</vt:lpstr>
      <vt:lpstr>Top-Down Parsing (ctd)</vt:lpstr>
      <vt:lpstr>Top-Down Parsing (ctd)</vt:lpstr>
      <vt:lpstr>Recursive-Descent Parsing</vt:lpstr>
      <vt:lpstr>Recursive-Descent Parsing (ctd)</vt:lpstr>
      <vt:lpstr>Example: Recursive-Descent with Backtracking</vt:lpstr>
      <vt:lpstr>FIRST and FOLLOW</vt:lpstr>
      <vt:lpstr>Computing FIRST</vt:lpstr>
      <vt:lpstr>FIRST - Example</vt:lpstr>
      <vt:lpstr>Computing FOLLOW</vt:lpstr>
      <vt:lpstr>FOLLOW – Example</vt:lpstr>
      <vt:lpstr>FIRST and FOLLOW – Examples</vt:lpstr>
      <vt:lpstr>LL(1) Grammars</vt:lpstr>
      <vt:lpstr>LL(1) Grammars (ctd)</vt:lpstr>
      <vt:lpstr>Predictive Parsing Table</vt:lpstr>
      <vt:lpstr>Predictive Parsing Table – Example 1</vt:lpstr>
      <vt:lpstr>Predictive Parsing Table – Example 2</vt:lpstr>
      <vt:lpstr>Predictive Parsing Process</vt:lpstr>
      <vt:lpstr>Predictive Parsing Process (ctd)</vt:lpstr>
      <vt:lpstr>Summary Questions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Keep Your Mic Mute and Camera Off We will start in few minutes</dc:title>
  <dc:creator>KhawajaM</dc:creator>
  <cp:lastModifiedBy>Khawaja Mohiuddin</cp:lastModifiedBy>
  <cp:revision>170</cp:revision>
  <dcterms:created xsi:type="dcterms:W3CDTF">2020-07-14T04:16:05Z</dcterms:created>
  <dcterms:modified xsi:type="dcterms:W3CDTF">2025-10-21T05:13:54Z</dcterms:modified>
</cp:coreProperties>
</file>